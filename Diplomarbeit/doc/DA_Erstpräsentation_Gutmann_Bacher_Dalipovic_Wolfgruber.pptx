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56" r:id="rId5"/>
    <p:sldId id="2582" r:id="rId6"/>
    <p:sldId id="2586" r:id="rId7"/>
    <p:sldId id="2583" r:id="rId8"/>
    <p:sldId id="2585" r:id="rId9"/>
    <p:sldId id="2584" r:id="rId10"/>
  </p:sldIdLst>
  <p:sldSz cx="12192000" cy="6858000"/>
  <p:notesSz cx="7099300" cy="102346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AE00"/>
    <a:srgbClr val="660033"/>
    <a:srgbClr val="437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28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8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5592"/>
    </p:cViewPr>
  </p:sorter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224"/>
        <p:guide pos="223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tmann Florian" userId="8179c08c-8e4f-48a3-84d4-f0ba7c96776f" providerId="ADAL" clId="{1CB17E01-FA05-CD4C-A163-F01D4F06E847}"/>
    <pc:docChg chg="modSld">
      <pc:chgData name="Gutmann Florian" userId="8179c08c-8e4f-48a3-84d4-f0ba7c96776f" providerId="ADAL" clId="{1CB17E01-FA05-CD4C-A163-F01D4F06E847}" dt="2025-06-24T14:06:16.052" v="56" actId="20577"/>
      <pc:docMkLst>
        <pc:docMk/>
      </pc:docMkLst>
      <pc:sldChg chg="modSp">
        <pc:chgData name="Gutmann Florian" userId="8179c08c-8e4f-48a3-84d4-f0ba7c96776f" providerId="ADAL" clId="{1CB17E01-FA05-CD4C-A163-F01D4F06E847}" dt="2025-06-24T14:06:16.052" v="56" actId="20577"/>
        <pc:sldMkLst>
          <pc:docMk/>
          <pc:sldMk cId="3925678693" sldId="2583"/>
        </pc:sldMkLst>
        <pc:spChg chg="mod">
          <ac:chgData name="Gutmann Florian" userId="8179c08c-8e4f-48a3-84d4-f0ba7c96776f" providerId="ADAL" clId="{1CB17E01-FA05-CD4C-A163-F01D4F06E847}" dt="2025-06-24T14:06:16.052" v="56" actId="20577"/>
          <ac:spMkLst>
            <pc:docMk/>
            <pc:sldMk cId="3925678693" sldId="2583"/>
            <ac:spMk id="3" creationId="{00000000-0000-0000-0000-000000000000}"/>
          </ac:spMkLst>
        </pc:spChg>
      </pc:sldChg>
      <pc:sldChg chg="modSp">
        <pc:chgData name="Gutmann Florian" userId="8179c08c-8e4f-48a3-84d4-f0ba7c96776f" providerId="ADAL" clId="{1CB17E01-FA05-CD4C-A163-F01D4F06E847}" dt="2025-06-24T13:53:38.746" v="55" actId="20577"/>
        <pc:sldMkLst>
          <pc:docMk/>
          <pc:sldMk cId="2525704466" sldId="2585"/>
        </pc:sldMkLst>
        <pc:spChg chg="mod">
          <ac:chgData name="Gutmann Florian" userId="8179c08c-8e4f-48a3-84d4-f0ba7c96776f" providerId="ADAL" clId="{1CB17E01-FA05-CD4C-A163-F01D4F06E847}" dt="2025-06-24T13:53:38.746" v="55" actId="20577"/>
          <ac:spMkLst>
            <pc:docMk/>
            <pc:sldMk cId="2525704466" sldId="2585"/>
            <ac:spMk id="3" creationId="{A228378C-21E0-453B-B255-71BAC911E6C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6" y="1"/>
            <a:ext cx="3075647" cy="511486"/>
          </a:xfrm>
          <a:prstGeom prst="rect">
            <a:avLst/>
          </a:prstGeom>
        </p:spPr>
        <p:txBody>
          <a:bodyPr vert="horz" lIns="94519" tIns="47259" rIns="94519" bIns="47259" rtlCol="0"/>
          <a:lstStyle>
            <a:lvl1pPr algn="l">
              <a:defRPr sz="13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4021999" y="1"/>
            <a:ext cx="3075646" cy="511486"/>
          </a:xfrm>
          <a:prstGeom prst="rect">
            <a:avLst/>
          </a:prstGeom>
        </p:spPr>
        <p:txBody>
          <a:bodyPr vert="horz" lIns="94519" tIns="47259" rIns="94519" bIns="47259" rtlCol="0"/>
          <a:lstStyle>
            <a:lvl1pPr algn="r">
              <a:defRPr sz="1300"/>
            </a:lvl1pPr>
          </a:lstStyle>
          <a:p>
            <a:fld id="{4597EA2D-D11E-4F11-940E-96FC3DC86B48}" type="datetimeFigureOut">
              <a:rPr lang="de-DE" smtClean="0"/>
              <a:pPr/>
              <a:t>24.06.25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6" y="9721499"/>
            <a:ext cx="3075647" cy="511485"/>
          </a:xfrm>
          <a:prstGeom prst="rect">
            <a:avLst/>
          </a:prstGeom>
        </p:spPr>
        <p:txBody>
          <a:bodyPr vert="horz" lIns="94519" tIns="47259" rIns="94519" bIns="47259" rtlCol="0" anchor="b"/>
          <a:lstStyle>
            <a:lvl1pPr algn="l">
              <a:defRPr sz="1300"/>
            </a:lvl1pPr>
          </a:lstStyle>
          <a:p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4021999" y="9721499"/>
            <a:ext cx="3075646" cy="511485"/>
          </a:xfrm>
          <a:prstGeom prst="rect">
            <a:avLst/>
          </a:prstGeom>
        </p:spPr>
        <p:txBody>
          <a:bodyPr vert="horz" lIns="94519" tIns="47259" rIns="94519" bIns="47259" rtlCol="0" anchor="b"/>
          <a:lstStyle>
            <a:lvl1pPr algn="r">
              <a:defRPr sz="1300"/>
            </a:lvl1pPr>
          </a:lstStyle>
          <a:p>
            <a:fld id="{ED1FD422-38C1-46E5-AEB3-FCA53D65A208}" type="slidenum">
              <a:rPr lang="de-AT" smtClean="0"/>
              <a:pPr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33588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6364" cy="511731"/>
          </a:xfrm>
          <a:prstGeom prst="rect">
            <a:avLst/>
          </a:prstGeom>
        </p:spPr>
        <p:txBody>
          <a:bodyPr vert="horz" lIns="94519" tIns="47259" rIns="94519" bIns="47259" rtlCol="0"/>
          <a:lstStyle>
            <a:lvl1pPr algn="l">
              <a:defRPr sz="13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1299" y="1"/>
            <a:ext cx="3076364" cy="511731"/>
          </a:xfrm>
          <a:prstGeom prst="rect">
            <a:avLst/>
          </a:prstGeom>
        </p:spPr>
        <p:txBody>
          <a:bodyPr vert="horz" lIns="94519" tIns="47259" rIns="94519" bIns="47259" rtlCol="0"/>
          <a:lstStyle>
            <a:lvl1pPr algn="r">
              <a:defRPr sz="1300"/>
            </a:lvl1pPr>
          </a:lstStyle>
          <a:p>
            <a:fld id="{25FA59D5-1C02-4780-AF81-09ADAD492357}" type="datetimeFigureOut">
              <a:rPr lang="de-AT" smtClean="0"/>
              <a:pPr/>
              <a:t>24.06.25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6763"/>
            <a:ext cx="6819900" cy="383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519" tIns="47259" rIns="94519" bIns="47259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vert="horz" lIns="94519" tIns="47259" rIns="94519" bIns="47259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4" cy="511731"/>
          </a:xfrm>
          <a:prstGeom prst="rect">
            <a:avLst/>
          </a:prstGeom>
        </p:spPr>
        <p:txBody>
          <a:bodyPr vert="horz" lIns="94519" tIns="47259" rIns="94519" bIns="47259" rtlCol="0" anchor="b"/>
          <a:lstStyle>
            <a:lvl1pPr algn="l">
              <a:defRPr sz="13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1299" y="9721106"/>
            <a:ext cx="3076364" cy="511731"/>
          </a:xfrm>
          <a:prstGeom prst="rect">
            <a:avLst/>
          </a:prstGeom>
        </p:spPr>
        <p:txBody>
          <a:bodyPr vert="horz" lIns="94519" tIns="47259" rIns="94519" bIns="47259" rtlCol="0" anchor="b"/>
          <a:lstStyle>
            <a:lvl1pPr algn="r">
              <a:defRPr sz="1300"/>
            </a:lvl1pPr>
          </a:lstStyle>
          <a:p>
            <a:fld id="{7AA6D168-C717-485B-B0C8-699ECBDF2CFF}" type="slidenum">
              <a:rPr lang="de-AT" smtClean="0"/>
              <a:pPr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77337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6763"/>
            <a:ext cx="6819900" cy="38369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A6D168-C717-485B-B0C8-699ECBDF2CFF}" type="slidenum">
              <a:rPr lang="de-AT" smtClean="0"/>
              <a:pPr/>
              <a:t>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93239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DBAB2-6CCA-40C7-8885-2C056A77E284}" type="datetime1">
              <a:rPr lang="de-AT" smtClean="0"/>
              <a:t>24.06.25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AT"/>
              <a:t>Diplomarbeit Name, Name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/>
            </a:lvl1pPr>
          </a:lstStyle>
          <a:p>
            <a:fld id="{7DCD6803-3BAA-44F6-A698-23D950C9713B}" type="slidenum">
              <a:rPr lang="de-AT" smtClean="0"/>
              <a:pPr/>
              <a:t>‹Nr.›</a:t>
            </a:fld>
            <a:endParaRPr lang="de-AT"/>
          </a:p>
        </p:txBody>
      </p:sp>
      <p:sp>
        <p:nvSpPr>
          <p:cNvPr id="14" name="Textfeld 13"/>
          <p:cNvSpPr txBox="1"/>
          <p:nvPr userDrawn="1"/>
        </p:nvSpPr>
        <p:spPr>
          <a:xfrm>
            <a:off x="1967541" y="6381328"/>
            <a:ext cx="26882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AT" sz="1100">
                <a:solidFill>
                  <a:schemeClr val="bg1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www.</a:t>
            </a:r>
            <a:r>
              <a:rPr lang="de-AT" sz="1600">
                <a:solidFill>
                  <a:schemeClr val="bg1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htl-</a:t>
            </a:r>
            <a:r>
              <a:rPr lang="de-AT" sz="1600">
                <a:solidFill>
                  <a:schemeClr val="tx2"/>
                </a:solidFill>
                <a:latin typeface="Adobe Gothic Std B" pitchFamily="34" charset="-128"/>
                <a:ea typeface="Adobe Gothic Std B" pitchFamily="34" charset="-128"/>
              </a:rPr>
              <a:t>leoben</a:t>
            </a:r>
            <a:r>
              <a:rPr lang="de-AT" sz="1100">
                <a:solidFill>
                  <a:schemeClr val="bg1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.at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0AF41BCF-DE93-46E8-96C4-64339D1576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6800" y="259200"/>
            <a:ext cx="6224367" cy="12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057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9158" y="188640"/>
            <a:ext cx="10270380" cy="720080"/>
          </a:xfrm>
        </p:spPr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09600" y="1052739"/>
            <a:ext cx="10972800" cy="507342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B591F-AE7F-406B-977E-415D708CD05B}" type="datetime1">
              <a:rPr lang="de-AT" smtClean="0"/>
              <a:t>24.06.25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639617" y="6356353"/>
            <a:ext cx="8160907" cy="365125"/>
          </a:xfrm>
        </p:spPr>
        <p:txBody>
          <a:bodyPr/>
          <a:lstStyle>
            <a:lvl1pPr>
              <a:defRPr sz="1600" b="1"/>
            </a:lvl1pPr>
          </a:lstStyle>
          <a:p>
            <a:r>
              <a:rPr lang="de-AT"/>
              <a:t>Diplomarbeit Name, Name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‹Nr.›</a:t>
            </a:fld>
            <a:endParaRPr lang="de-AT"/>
          </a:p>
        </p:txBody>
      </p:sp>
      <p:cxnSp>
        <p:nvCxnSpPr>
          <p:cNvPr id="9" name="Gerade Verbindung 8"/>
          <p:cNvCxnSpPr/>
          <p:nvPr userDrawn="1"/>
        </p:nvCxnSpPr>
        <p:spPr>
          <a:xfrm>
            <a:off x="623392" y="980728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8"/>
          <p:cNvCxnSpPr/>
          <p:nvPr userDrawn="1"/>
        </p:nvCxnSpPr>
        <p:spPr>
          <a:xfrm>
            <a:off x="623392" y="6237312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fik 11">
            <a:extLst>
              <a:ext uri="{FF2B5EF4-FFF2-40B4-BE49-F238E27FC236}">
                <a16:creationId xmlns:a16="http://schemas.microsoft.com/office/drawing/2014/main" id="{614C7656-561A-4230-AE49-F934B21548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69600" y="6357600"/>
            <a:ext cx="1780861" cy="37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896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083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09600" y="103179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0" y="103179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D4213-31A7-43A9-B381-650B72838F3D}" type="datetime1">
              <a:rPr lang="de-AT" smtClean="0"/>
              <a:t>24.06.25</a:t>
            </a:fld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‹Nr.›</a:t>
            </a:fld>
            <a:endParaRPr lang="de-AT"/>
          </a:p>
        </p:txBody>
      </p:sp>
      <p:cxnSp>
        <p:nvCxnSpPr>
          <p:cNvPr id="26" name="Gerade Verbindung 8">
            <a:extLst>
              <a:ext uri="{FF2B5EF4-FFF2-40B4-BE49-F238E27FC236}">
                <a16:creationId xmlns:a16="http://schemas.microsoft.com/office/drawing/2014/main" id="{B231FD8D-BD46-413B-B98F-46B87457439F}"/>
              </a:ext>
            </a:extLst>
          </p:cNvPr>
          <p:cNvCxnSpPr/>
          <p:nvPr userDrawn="1"/>
        </p:nvCxnSpPr>
        <p:spPr>
          <a:xfrm>
            <a:off x="623392" y="980728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8">
            <a:extLst>
              <a:ext uri="{FF2B5EF4-FFF2-40B4-BE49-F238E27FC236}">
                <a16:creationId xmlns:a16="http://schemas.microsoft.com/office/drawing/2014/main" id="{FF9F6E03-68AB-4FB8-BF89-42F3F9730FF5}"/>
              </a:ext>
            </a:extLst>
          </p:cNvPr>
          <p:cNvCxnSpPr/>
          <p:nvPr userDrawn="1"/>
        </p:nvCxnSpPr>
        <p:spPr>
          <a:xfrm>
            <a:off x="623392" y="6237312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ußzeilenplatzhalter 4">
            <a:extLst>
              <a:ext uri="{FF2B5EF4-FFF2-40B4-BE49-F238E27FC236}">
                <a16:creationId xmlns:a16="http://schemas.microsoft.com/office/drawing/2014/main" id="{61780AA7-F848-43F9-AE0D-14BBE9A66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39617" y="6356353"/>
            <a:ext cx="8160907" cy="365125"/>
          </a:xfrm>
        </p:spPr>
        <p:txBody>
          <a:bodyPr/>
          <a:lstStyle>
            <a:lvl1pPr>
              <a:defRPr sz="1600" b="1"/>
            </a:lvl1pPr>
          </a:lstStyle>
          <a:p>
            <a:r>
              <a:rPr lang="de-AT"/>
              <a:t>Diplomarbeit Name, Name</a:t>
            </a:r>
            <a:endParaRPr lang="de-AT" dirty="0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F16B0F48-B7CD-4678-8B22-ED12B938C2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69600" y="6357600"/>
            <a:ext cx="1780861" cy="37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516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639762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941989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09600" y="1705316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93369" y="941989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93369" y="1705316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23C63-4118-48BA-956A-11DEEC1AA07D}" type="datetime1">
              <a:rPr lang="de-AT" smtClean="0"/>
              <a:t>24.06.25</a:t>
            </a:fld>
            <a:endParaRPr lang="de-AT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‹Nr.›</a:t>
            </a:fld>
            <a:endParaRPr lang="de-AT"/>
          </a:p>
        </p:txBody>
      </p:sp>
      <p:cxnSp>
        <p:nvCxnSpPr>
          <p:cNvPr id="12" name="Gerade Verbindung 8">
            <a:extLst>
              <a:ext uri="{FF2B5EF4-FFF2-40B4-BE49-F238E27FC236}">
                <a16:creationId xmlns:a16="http://schemas.microsoft.com/office/drawing/2014/main" id="{D2F1EB9E-8380-425B-B884-1A5E1DD9E9F2}"/>
              </a:ext>
            </a:extLst>
          </p:cNvPr>
          <p:cNvCxnSpPr/>
          <p:nvPr userDrawn="1"/>
        </p:nvCxnSpPr>
        <p:spPr>
          <a:xfrm>
            <a:off x="623392" y="980728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8">
            <a:extLst>
              <a:ext uri="{FF2B5EF4-FFF2-40B4-BE49-F238E27FC236}">
                <a16:creationId xmlns:a16="http://schemas.microsoft.com/office/drawing/2014/main" id="{C32164E0-C3F5-4411-BA01-05D65208091F}"/>
              </a:ext>
            </a:extLst>
          </p:cNvPr>
          <p:cNvCxnSpPr/>
          <p:nvPr userDrawn="1"/>
        </p:nvCxnSpPr>
        <p:spPr>
          <a:xfrm>
            <a:off x="623392" y="6237312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155BF4B4-4484-4D9C-BFD8-E75462DA4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39617" y="6356353"/>
            <a:ext cx="8160907" cy="365125"/>
          </a:xfrm>
        </p:spPr>
        <p:txBody>
          <a:bodyPr/>
          <a:lstStyle>
            <a:lvl1pPr>
              <a:defRPr sz="1600" b="1"/>
            </a:lvl1pPr>
          </a:lstStyle>
          <a:p>
            <a:r>
              <a:rPr lang="de-AT"/>
              <a:t>Diplomarbeit Name, Name</a:t>
            </a:r>
            <a:endParaRPr lang="de-AT" dirty="0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F5378A7E-CD4F-4738-BF47-8D1B09A913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69600" y="6357600"/>
            <a:ext cx="1780861" cy="37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46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B355E-663F-46F6-A58A-7E827B834F26}" type="datetime1">
              <a:rPr lang="de-AT" smtClean="0"/>
              <a:t>24.06.25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AT"/>
              <a:t>Diplomarbeit Name, Name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CD6803-3BAA-44F6-A698-23D950C9713B}" type="slidenum">
              <a:rPr lang="de-AT" smtClean="0"/>
              <a:pPr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40844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wayo.at/magazin/basketball-statistiken-at.htm?srsltid=AfmBOopEAW67rKtQdgS35TA1vZC0yFC8tkEyK3NlfMVbDaZdNGSA5Iaa" TargetMode="External"/><Relationship Id="rId2" Type="http://schemas.openxmlformats.org/officeDocument/2006/relationships/hyperlink" Target="https://www.catapult.com/de/blog/neu-definierte-basketball-analys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026"/>
          <p:cNvSpPr txBox="1">
            <a:spLocks noChangeArrowheads="1"/>
          </p:cNvSpPr>
          <p:nvPr/>
        </p:nvSpPr>
        <p:spPr>
          <a:xfrm>
            <a:off x="2895600" y="1928802"/>
            <a:ext cx="7629556" cy="2571768"/>
          </a:xfrm>
          <a:prstGeom prst="rect">
            <a:avLst/>
          </a:prstGeom>
        </p:spPr>
        <p:txBody>
          <a:bodyPr/>
          <a:lstStyle/>
          <a:p>
            <a:r>
              <a:rPr lang="de-AT" sz="3200" b="1" dirty="0">
                <a:solidFill>
                  <a:srgbClr val="9BBB59"/>
                </a:solidFill>
              </a:rPr>
              <a:t>Basketball Effizienzsteigerung durch Videoanalyse</a:t>
            </a:r>
          </a:p>
          <a:p>
            <a:pPr lvl="0">
              <a:spcBef>
                <a:spcPct val="0"/>
              </a:spcBef>
              <a:defRPr/>
            </a:pPr>
            <a:endParaRPr lang="de-DE" sz="3200" dirty="0">
              <a:solidFill>
                <a:srgbClr val="0070C0"/>
              </a:solidFill>
            </a:endParaRPr>
          </a:p>
        </p:txBody>
      </p:sp>
      <p:sp>
        <p:nvSpPr>
          <p:cNvPr id="7" name="Text Box 1030">
            <a:extLst>
              <a:ext uri="{FF2B5EF4-FFF2-40B4-BE49-F238E27FC236}">
                <a16:creationId xmlns:a16="http://schemas.microsoft.com/office/drawing/2014/main" id="{ED76D2C5-1C5A-49E1-B111-D7EA454A94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8088" y="4209170"/>
            <a:ext cx="6373812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Ins="54000">
            <a:spAutoFit/>
          </a:bodyPr>
          <a:lstStyle/>
          <a:p>
            <a:pPr algn="r"/>
            <a:r>
              <a:rPr lang="nl-NL" sz="2000" dirty="0"/>
              <a:t>Gutmann Florian, Bacher Fabian, Nino Dalipovic,</a:t>
            </a:r>
          </a:p>
          <a:p>
            <a:pPr algn="r"/>
            <a:r>
              <a:rPr lang="nl-NL" sz="2000" dirty="0"/>
              <a:t> Bastian Wolfgruber</a:t>
            </a:r>
          </a:p>
        </p:txBody>
      </p:sp>
      <p:sp>
        <p:nvSpPr>
          <p:cNvPr id="8" name="Text Box 1030">
            <a:extLst>
              <a:ext uri="{FF2B5EF4-FFF2-40B4-BE49-F238E27FC236}">
                <a16:creationId xmlns:a16="http://schemas.microsoft.com/office/drawing/2014/main" id="{7CF2A42E-995E-450D-9017-7EE5A0A26C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8088" y="4917056"/>
            <a:ext cx="63738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Ins="54000">
            <a:spAutoFit/>
          </a:bodyPr>
          <a:lstStyle/>
          <a:p>
            <a:pPr algn="r"/>
            <a:r>
              <a:rPr lang="de-AT" dirty="0"/>
              <a:t>18.06.2025</a:t>
            </a:r>
          </a:p>
        </p:txBody>
      </p:sp>
      <p:sp>
        <p:nvSpPr>
          <p:cNvPr id="5" name="Text Box 1030">
            <a:extLst>
              <a:ext uri="{FF2B5EF4-FFF2-40B4-BE49-F238E27FC236}">
                <a16:creationId xmlns:a16="http://schemas.microsoft.com/office/drawing/2014/main" id="{549EEA25-235A-4DB2-B18D-8226E1B72D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6590" y="5322640"/>
            <a:ext cx="63738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Ins="5400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AT" dirty="0"/>
              <a:t>Betreuer/in: DI Darko Jankovic</a:t>
            </a:r>
          </a:p>
        </p:txBody>
      </p:sp>
      <p:sp>
        <p:nvSpPr>
          <p:cNvPr id="9" name="Text Box 1030">
            <a:extLst>
              <a:ext uri="{FF2B5EF4-FFF2-40B4-BE49-F238E27FC236}">
                <a16:creationId xmlns:a16="http://schemas.microsoft.com/office/drawing/2014/main" id="{0CE138CF-753E-4573-B47E-8055A445E2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6590" y="5608392"/>
            <a:ext cx="63738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Ins="5400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AT" dirty="0"/>
              <a:t>Firmenpartner: HTL Leoben</a:t>
            </a:r>
          </a:p>
        </p:txBody>
      </p:sp>
    </p:spTree>
    <p:extLst>
      <p:ext uri="{BB962C8B-B14F-4D97-AF65-F5344CB8AC3E}">
        <p14:creationId xmlns:p14="http://schemas.microsoft.com/office/powerpoint/2010/main" val="3194803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Partner/Aufgabenstellung und SDG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dirty="0"/>
              <a:t>Diplomarbeit Bacher, Wolfgruber, </a:t>
            </a:r>
            <a:r>
              <a:rPr lang="de-AT" dirty="0" err="1"/>
              <a:t>Dalipovic</a:t>
            </a:r>
            <a:r>
              <a:rPr lang="de-AT" dirty="0"/>
              <a:t>, Gutmann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AT" dirty="0"/>
              <a:t>HTL Leoben</a:t>
            </a:r>
          </a:p>
          <a:p>
            <a:r>
              <a:rPr lang="de-AT" dirty="0"/>
              <a:t>Aufgabenstellung</a:t>
            </a:r>
          </a:p>
          <a:p>
            <a:pPr lvl="1"/>
            <a:r>
              <a:rPr lang="de-DE" dirty="0"/>
              <a:t>Entwicklung eines intelligenten Trainingssystems für den Basketballsport, das mithilfe von Videoanalyse und statistischer Auswertung die Wurfleistung von Spieler*innen erfasst, auswertet und visuell darstellt.</a:t>
            </a:r>
            <a:br>
              <a:rPr lang="de-DE" dirty="0"/>
            </a:br>
            <a:r>
              <a:rPr lang="de-DE" dirty="0"/>
              <a:t>Dabei sollen sowohl Echtzeit-Feedback als auch langfristige Leistungsdaten über eine benutzerfreundliche Oberfläche verfügbar gemacht werden.</a:t>
            </a:r>
            <a:endParaRPr lang="de-AT" dirty="0"/>
          </a:p>
          <a:p>
            <a:r>
              <a:rPr lang="de-AT" dirty="0"/>
              <a:t>SDGs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2</a:t>
            </a:fld>
            <a:endParaRPr lang="de-AT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964AC763-8FCE-B6ED-4CF9-08674CDAF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033" y="4458094"/>
            <a:ext cx="1347167" cy="1347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119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E7D6A9-A152-7989-5199-D760115B6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08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de-AT"/>
              <a:t>Arbeitsaufteilung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95E6FBE-7D0D-CE1D-08D0-1A06D70C3F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031791"/>
            <a:ext cx="5384800" cy="4525963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endParaRPr lang="de-AT" sz="1300"/>
          </a:p>
          <a:p>
            <a:pPr lvl="1">
              <a:lnSpc>
                <a:spcPct val="90000"/>
              </a:lnSpc>
            </a:pPr>
            <a:r>
              <a:rPr lang="de-AT" sz="1300"/>
              <a:t>Frontend (</a:t>
            </a:r>
            <a:r>
              <a:rPr lang="de-AT" sz="1300" err="1"/>
              <a:t>Dalipovic</a:t>
            </a:r>
            <a:r>
              <a:rPr lang="de-AT" sz="1300"/>
              <a:t>)</a:t>
            </a:r>
          </a:p>
          <a:p>
            <a:pPr lvl="2">
              <a:lnSpc>
                <a:spcPct val="90000"/>
              </a:lnSpc>
            </a:pPr>
            <a:r>
              <a:rPr lang="de-AT" sz="1300"/>
              <a:t>Benutzeroberfläche</a:t>
            </a:r>
          </a:p>
          <a:p>
            <a:pPr lvl="3">
              <a:lnSpc>
                <a:spcPct val="90000"/>
              </a:lnSpc>
            </a:pPr>
            <a:r>
              <a:rPr lang="de-AT" sz="1300"/>
              <a:t>Spieler auswählen/anlegen</a:t>
            </a:r>
          </a:p>
          <a:p>
            <a:pPr lvl="3">
              <a:lnSpc>
                <a:spcPct val="90000"/>
              </a:lnSpc>
            </a:pPr>
            <a:r>
              <a:rPr lang="de-AT" sz="1300"/>
              <a:t>Verschiedene Anzeigen</a:t>
            </a:r>
          </a:p>
          <a:p>
            <a:pPr lvl="1">
              <a:lnSpc>
                <a:spcPct val="90000"/>
              </a:lnSpc>
            </a:pPr>
            <a:r>
              <a:rPr lang="de-AT" sz="1300"/>
              <a:t>Backend (Gutmann)</a:t>
            </a:r>
          </a:p>
          <a:p>
            <a:pPr lvl="2">
              <a:lnSpc>
                <a:spcPct val="90000"/>
              </a:lnSpc>
            </a:pPr>
            <a:r>
              <a:rPr lang="de-AT" sz="1300"/>
              <a:t>Datenbank</a:t>
            </a:r>
          </a:p>
          <a:p>
            <a:pPr lvl="2">
              <a:lnSpc>
                <a:spcPct val="90000"/>
              </a:lnSpc>
            </a:pPr>
            <a:r>
              <a:rPr lang="de-AT" sz="1300"/>
              <a:t>Interaktion mit Frontend</a:t>
            </a:r>
          </a:p>
          <a:p>
            <a:pPr lvl="2">
              <a:lnSpc>
                <a:spcPct val="90000"/>
              </a:lnSpc>
            </a:pPr>
            <a:r>
              <a:rPr lang="de-AT" sz="1300"/>
              <a:t>Statistik Auswertung</a:t>
            </a:r>
          </a:p>
          <a:p>
            <a:pPr lvl="1">
              <a:lnSpc>
                <a:spcPct val="90000"/>
              </a:lnSpc>
            </a:pPr>
            <a:r>
              <a:rPr lang="de-AT" sz="1300"/>
              <a:t>Videoanalyse (Bacher + Wolfgruber)</a:t>
            </a:r>
          </a:p>
          <a:p>
            <a:pPr lvl="2">
              <a:lnSpc>
                <a:spcPct val="90000"/>
              </a:lnSpc>
            </a:pPr>
            <a:r>
              <a:rPr lang="de-AT" sz="1300"/>
              <a:t>Ist- Flugbahn</a:t>
            </a:r>
          </a:p>
          <a:p>
            <a:pPr lvl="3">
              <a:lnSpc>
                <a:spcPct val="90000"/>
              </a:lnSpc>
            </a:pPr>
            <a:r>
              <a:rPr lang="de-AT" sz="1300"/>
              <a:t>Erkennung der Flugbahn des Balles</a:t>
            </a:r>
          </a:p>
          <a:p>
            <a:pPr lvl="3">
              <a:lnSpc>
                <a:spcPct val="90000"/>
              </a:lnSpc>
            </a:pPr>
            <a:r>
              <a:rPr lang="de-AT" sz="1300"/>
              <a:t>Auswertung zwischen Soll und Ist</a:t>
            </a:r>
          </a:p>
          <a:p>
            <a:pPr lvl="2">
              <a:lnSpc>
                <a:spcPct val="90000"/>
              </a:lnSpc>
            </a:pPr>
            <a:r>
              <a:rPr lang="de-AT" sz="1300"/>
              <a:t>Soll- Flugbahn</a:t>
            </a:r>
          </a:p>
          <a:p>
            <a:pPr lvl="3">
              <a:lnSpc>
                <a:spcPct val="90000"/>
              </a:lnSpc>
            </a:pPr>
            <a:r>
              <a:rPr lang="de-AT" sz="1300"/>
              <a:t>Erkennung vom Korb/Abwurf</a:t>
            </a:r>
          </a:p>
          <a:p>
            <a:pPr lvl="3">
              <a:lnSpc>
                <a:spcPct val="90000"/>
              </a:lnSpc>
            </a:pPr>
            <a:r>
              <a:rPr lang="de-AT" sz="1300"/>
              <a:t>Soll Flugparabel berechnen und darstellen</a:t>
            </a:r>
          </a:p>
          <a:p>
            <a:pPr lvl="1">
              <a:lnSpc>
                <a:spcPct val="90000"/>
              </a:lnSpc>
            </a:pPr>
            <a:r>
              <a:rPr lang="de-AT" sz="1300"/>
              <a:t>Bonus</a:t>
            </a:r>
          </a:p>
          <a:p>
            <a:pPr lvl="2">
              <a:lnSpc>
                <a:spcPct val="90000"/>
              </a:lnSpc>
            </a:pPr>
            <a:r>
              <a:rPr lang="de-AT" sz="1300"/>
              <a:t>Erkennung des Rollstuhlfahrers(Gelenkspukte)</a:t>
            </a:r>
          </a:p>
          <a:p>
            <a:pPr lvl="2">
              <a:lnSpc>
                <a:spcPct val="90000"/>
              </a:lnSpc>
            </a:pPr>
            <a:r>
              <a:rPr lang="de-AT" sz="1300"/>
              <a:t>Vermessung von Gliedmaßen</a:t>
            </a:r>
          </a:p>
          <a:p>
            <a:pPr lvl="1">
              <a:lnSpc>
                <a:spcPct val="90000"/>
              </a:lnSpc>
            </a:pPr>
            <a:endParaRPr lang="de-AT" sz="1300"/>
          </a:p>
          <a:p>
            <a:pPr marL="457200" lvl="1" indent="0">
              <a:lnSpc>
                <a:spcPct val="90000"/>
              </a:lnSpc>
              <a:buNone/>
            </a:pPr>
            <a:endParaRPr lang="de-AT" sz="130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7ABC6906-2F8C-E6E2-F731-D309C93FA0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592" t="34552" r="24767" b="11750"/>
          <a:stretch>
            <a:fillRect/>
          </a:stretch>
        </p:blipFill>
        <p:spPr>
          <a:xfrm>
            <a:off x="7004924" y="1031791"/>
            <a:ext cx="3770152" cy="4525963"/>
          </a:xfrm>
          <a:prstGeom prst="rect">
            <a:avLst/>
          </a:prstGeom>
          <a:noFill/>
        </p:spPr>
      </p:pic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13F65E0-9373-1A83-831B-F1763325D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DCD6803-3BAA-44F6-A698-23D950C9713B}" type="slidenum">
              <a:rPr lang="de-AT" smtClean="0"/>
              <a:pPr>
                <a:spcAft>
                  <a:spcPts val="600"/>
                </a:spcAft>
              </a:pPr>
              <a:t>3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04D774B-64FF-7345-7EEC-597E6E217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39617" y="6356353"/>
            <a:ext cx="81609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AT"/>
              <a:t>Diplomarbeit Bacher, Wolfgruber, Dalipovic, Gutmann</a:t>
            </a:r>
          </a:p>
        </p:txBody>
      </p:sp>
    </p:spTree>
    <p:extLst>
      <p:ext uri="{BB962C8B-B14F-4D97-AF65-F5344CB8AC3E}">
        <p14:creationId xmlns:p14="http://schemas.microsoft.com/office/powerpoint/2010/main" val="3620416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Ziele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dirty="0"/>
              <a:t>Diplomarbeit Bacher, Wolfgruber, </a:t>
            </a:r>
            <a:r>
              <a:rPr lang="de-AT" dirty="0" err="1"/>
              <a:t>Dalipovic</a:t>
            </a:r>
            <a:r>
              <a:rPr lang="de-AT" dirty="0"/>
              <a:t>, Gutmann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Entwicklung eines Systems bis Juni 2026,</a:t>
            </a:r>
            <a:br>
              <a:rPr lang="de-DE" dirty="0"/>
            </a:br>
            <a:r>
              <a:rPr lang="de-DE" dirty="0"/>
              <a:t>welches Basketballwürfe automatisch analysiert,</a:t>
            </a:r>
            <a:br>
              <a:rPr lang="de-DE" dirty="0"/>
            </a:br>
            <a:r>
              <a:rPr lang="de-DE" dirty="0"/>
              <a:t>Spieler*innen durch visuelles Feedback und Statistik</a:t>
            </a:r>
            <a:r>
              <a:rPr lang="de-AT" dirty="0"/>
              <a:t> </a:t>
            </a:r>
            <a:r>
              <a:rPr lang="de-DE" dirty="0"/>
              <a:t>hilft, ihre  Wurftechnik messbar zu verbessern.</a:t>
            </a:r>
          </a:p>
          <a:p>
            <a:r>
              <a:rPr lang="de-DE" dirty="0"/>
              <a:t>Hauptziel</a:t>
            </a:r>
          </a:p>
          <a:p>
            <a:pPr lvl="1"/>
            <a:r>
              <a:rPr lang="de-DE" dirty="0"/>
              <a:t>Die Wurftechnik von Basketballspieler*innen mithilfe eines intelligenten Video- und Analysesystems messbar verbessern.</a:t>
            </a:r>
            <a:endParaRPr lang="de-AT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4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25678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96C6BA-99A1-43F4-92B8-B6D762EF0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08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de-DE"/>
              <a:t>PM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28378C-21E0-453B-B255-71BAC911E6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031791"/>
            <a:ext cx="5384800" cy="45259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de-DE" sz="1200" dirty="0"/>
              <a:t>Milestones</a:t>
            </a:r>
          </a:p>
          <a:p>
            <a:pPr lvl="1">
              <a:lnSpc>
                <a:spcPct val="90000"/>
              </a:lnSpc>
            </a:pPr>
            <a:r>
              <a:rPr lang="de-DE" sz="1200" dirty="0"/>
              <a:t>Juni 2025</a:t>
            </a:r>
          </a:p>
          <a:p>
            <a:pPr lvl="2">
              <a:lnSpc>
                <a:spcPct val="90000"/>
              </a:lnSpc>
            </a:pPr>
            <a:r>
              <a:rPr lang="de-DE" sz="1200" dirty="0"/>
              <a:t>Beginn der Diplomarbeit</a:t>
            </a:r>
          </a:p>
          <a:p>
            <a:pPr lvl="2">
              <a:lnSpc>
                <a:spcPct val="90000"/>
              </a:lnSpc>
            </a:pPr>
            <a:r>
              <a:rPr lang="de-DE" sz="1200" dirty="0"/>
              <a:t>16.06.2026 erster Videodrehtag im Raiffeisen Sportpark</a:t>
            </a:r>
          </a:p>
          <a:p>
            <a:pPr lvl="1">
              <a:lnSpc>
                <a:spcPct val="90000"/>
              </a:lnSpc>
            </a:pPr>
            <a:r>
              <a:rPr lang="de-DE" sz="1200" dirty="0"/>
              <a:t>Juli 2025</a:t>
            </a:r>
          </a:p>
          <a:p>
            <a:pPr lvl="2">
              <a:lnSpc>
                <a:spcPct val="90000"/>
              </a:lnSpc>
            </a:pPr>
            <a:r>
              <a:rPr lang="de-DE" sz="1200" dirty="0"/>
              <a:t>Ersten Starts der Videoanalyse (Ballerkennung, einfache Flugbahn erkennen)</a:t>
            </a:r>
          </a:p>
          <a:p>
            <a:pPr lvl="1">
              <a:lnSpc>
                <a:spcPct val="90000"/>
              </a:lnSpc>
            </a:pPr>
            <a:r>
              <a:rPr lang="de-DE" sz="1200" dirty="0"/>
              <a:t>August 2025</a:t>
            </a:r>
          </a:p>
          <a:p>
            <a:pPr lvl="2">
              <a:lnSpc>
                <a:spcPct val="90000"/>
              </a:lnSpc>
            </a:pPr>
            <a:r>
              <a:rPr lang="de-DE" sz="1200" dirty="0"/>
              <a:t>Frontend Prototyp, Spieler anlegen, Oberfläche gestalten</a:t>
            </a:r>
          </a:p>
          <a:p>
            <a:pPr lvl="1">
              <a:lnSpc>
                <a:spcPct val="90000"/>
              </a:lnSpc>
            </a:pPr>
            <a:r>
              <a:rPr lang="de-DE" sz="1200" dirty="0"/>
              <a:t>September</a:t>
            </a:r>
          </a:p>
          <a:p>
            <a:pPr lvl="2">
              <a:lnSpc>
                <a:spcPct val="90000"/>
              </a:lnSpc>
            </a:pPr>
            <a:r>
              <a:rPr lang="de-DE" sz="1200" dirty="0"/>
              <a:t>Backend Grundstruktur, Datenbank</a:t>
            </a:r>
            <a:r>
              <a:rPr lang="de-AT" sz="1200"/>
              <a:t> aufsetzten</a:t>
            </a:r>
            <a:r>
              <a:rPr lang="de-DE" sz="1200"/>
              <a:t>, </a:t>
            </a:r>
            <a:r>
              <a:rPr lang="de-DE" sz="1200" dirty="0"/>
              <a:t>einfache Datenspeicherung</a:t>
            </a:r>
          </a:p>
          <a:p>
            <a:pPr lvl="1">
              <a:lnSpc>
                <a:spcPct val="90000"/>
              </a:lnSpc>
            </a:pPr>
            <a:r>
              <a:rPr lang="de-DE" sz="1200" dirty="0"/>
              <a:t>Oktober 2025</a:t>
            </a:r>
          </a:p>
          <a:p>
            <a:pPr lvl="2">
              <a:lnSpc>
                <a:spcPct val="90000"/>
              </a:lnSpc>
            </a:pPr>
            <a:r>
              <a:rPr lang="de-DE" sz="1200" dirty="0"/>
              <a:t>Datenbank</a:t>
            </a:r>
            <a:r>
              <a:rPr lang="de-AT" sz="1200" dirty="0"/>
              <a:t> </a:t>
            </a:r>
            <a:r>
              <a:rPr lang="de-DE" sz="1200" dirty="0"/>
              <a:t>an Frontend anbinden</a:t>
            </a:r>
          </a:p>
          <a:p>
            <a:pPr lvl="1">
              <a:lnSpc>
                <a:spcPct val="90000"/>
              </a:lnSpc>
            </a:pPr>
            <a:r>
              <a:rPr lang="de-DE" sz="1200" dirty="0"/>
              <a:t>November 2025</a:t>
            </a:r>
          </a:p>
          <a:p>
            <a:pPr lvl="2">
              <a:lnSpc>
                <a:spcPct val="90000"/>
              </a:lnSpc>
            </a:pPr>
            <a:r>
              <a:rPr lang="de-DE" sz="1200" dirty="0"/>
              <a:t>Erste Zwischenpräsentation</a:t>
            </a:r>
          </a:p>
          <a:p>
            <a:pPr lvl="1">
              <a:lnSpc>
                <a:spcPct val="90000"/>
              </a:lnSpc>
            </a:pPr>
            <a:r>
              <a:rPr lang="de-DE" sz="1200" dirty="0"/>
              <a:t>06.03.2026 Abgabe</a:t>
            </a:r>
          </a:p>
          <a:p>
            <a:pPr>
              <a:lnSpc>
                <a:spcPct val="90000"/>
              </a:lnSpc>
            </a:pPr>
            <a:r>
              <a:rPr lang="de-AT" sz="1200" dirty="0"/>
              <a:t>Kostenabschätzung und Bedeckung</a:t>
            </a:r>
          </a:p>
          <a:p>
            <a:pPr lvl="1">
              <a:lnSpc>
                <a:spcPct val="90000"/>
              </a:lnSpc>
            </a:pPr>
            <a:r>
              <a:rPr lang="de-AT" sz="1200" dirty="0"/>
              <a:t>Binden der Diplomarbeit: </a:t>
            </a:r>
            <a:r>
              <a:rPr lang="de-AT" sz="1200" dirty="0" err="1"/>
              <a:t>ca</a:t>
            </a:r>
            <a:r>
              <a:rPr lang="de-AT" sz="1200" dirty="0"/>
              <a:t> 100€</a:t>
            </a:r>
          </a:p>
          <a:p>
            <a:pPr lvl="1">
              <a:lnSpc>
                <a:spcPct val="90000"/>
              </a:lnSpc>
            </a:pPr>
            <a:r>
              <a:rPr lang="de-AT" sz="1200" dirty="0"/>
              <a:t>Personalkosten: (180h * 20€) *4 -&gt; 14400€ Netto, 28800€ Brutto</a:t>
            </a:r>
          </a:p>
          <a:p>
            <a:pPr lvl="1">
              <a:lnSpc>
                <a:spcPct val="90000"/>
              </a:lnSpc>
            </a:pPr>
            <a:r>
              <a:rPr lang="de-AT" sz="1200" dirty="0"/>
              <a:t>Kamera (Jankovic)</a:t>
            </a:r>
          </a:p>
        </p:txBody>
      </p:sp>
      <p:pic>
        <p:nvPicPr>
          <p:cNvPr id="6" name="Grafik 5" descr="Ein Bild, das Sportspiele, Sportausrüstung, Person, Basketballfeld enthält.&#10;&#10;KI-generierte Inhalte können fehlerhaft sein.">
            <a:extLst>
              <a:ext uri="{FF2B5EF4-FFF2-40B4-BE49-F238E27FC236}">
                <a16:creationId xmlns:a16="http://schemas.microsoft.com/office/drawing/2014/main" id="{796124DF-161D-39B9-87D7-0A9B554E40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274" r="9113"/>
          <a:stretch>
            <a:fillRect/>
          </a:stretch>
        </p:blipFill>
        <p:spPr>
          <a:xfrm>
            <a:off x="6197600" y="1768992"/>
            <a:ext cx="5384800" cy="3051560"/>
          </a:xfrm>
          <a:prstGeom prst="rect">
            <a:avLst/>
          </a:prstGeom>
          <a:noFill/>
        </p:spPr>
      </p:pic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B38338F-922C-40A7-B140-637B82770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DCD6803-3BAA-44F6-A698-23D950C9713B}" type="slidenum">
              <a:rPr lang="de-AT" smtClean="0"/>
              <a:pPr>
                <a:spcAft>
                  <a:spcPts val="600"/>
                </a:spcAft>
              </a:pPr>
              <a:t>5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AADA028-308D-430B-A45B-407D875A2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39617" y="6356353"/>
            <a:ext cx="81609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AT"/>
              <a:t>Diplomarbeit Bacher, Wolfgruber, Dalipovic, Gutmann</a:t>
            </a:r>
          </a:p>
        </p:txBody>
      </p:sp>
    </p:spTree>
    <p:extLst>
      <p:ext uri="{BB962C8B-B14F-4D97-AF65-F5344CB8AC3E}">
        <p14:creationId xmlns:p14="http://schemas.microsoft.com/office/powerpoint/2010/main" val="2525704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96C6BA-99A1-43F4-92B8-B6D762EF0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Literatur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28378C-21E0-453B-B255-71BAC911E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Bis dato durchgesehen:</a:t>
            </a:r>
          </a:p>
          <a:p>
            <a:pPr lvl="1"/>
            <a:r>
              <a:rPr lang="de-DE" dirty="0">
                <a:hlinkClick r:id="rId2"/>
              </a:rPr>
              <a:t>https://www.catapult.com/de/blog/neu-definierte-basketball-analyse</a:t>
            </a:r>
            <a:endParaRPr lang="de-DE" dirty="0"/>
          </a:p>
          <a:p>
            <a:pPr lvl="1"/>
            <a:r>
              <a:rPr lang="de-DE" dirty="0">
                <a:hlinkClick r:id="rId3"/>
              </a:rPr>
              <a:t>https://www.owayo.at/magazin/basketball-statistiken-at.htm?srsltid=AfmBOopEAW67rKtQdgS35TA1vZC0yFC8tkEyK3NlfMVbDaZdNGSA5Iaa</a:t>
            </a:r>
            <a:endParaRPr lang="de-DE" dirty="0"/>
          </a:p>
          <a:p>
            <a:pPr lvl="1"/>
            <a:endParaRPr lang="de-DE" dirty="0"/>
          </a:p>
          <a:p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AADA028-308D-430B-A45B-407D875A2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dirty="0"/>
              <a:t>Diplomarbeit Bacher, Wolfgruber, </a:t>
            </a:r>
            <a:r>
              <a:rPr lang="de-AT" dirty="0" err="1"/>
              <a:t>Dalipovic</a:t>
            </a:r>
            <a:r>
              <a:rPr lang="de-AT" dirty="0"/>
              <a:t>, Gutmann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B38338F-922C-40A7-B140-637B82770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6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929837528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34CB4D94694C6C4497074175C0CB9EC7" ma:contentTypeVersion="9" ma:contentTypeDescription="Ein neues Dokument erstellen." ma:contentTypeScope="" ma:versionID="1be18d7fe44d7d7697a00d42612414e6">
  <xsd:schema xmlns:xsd="http://www.w3.org/2001/XMLSchema" xmlns:xs="http://www.w3.org/2001/XMLSchema" xmlns:p="http://schemas.microsoft.com/office/2006/metadata/properties" xmlns:ns2="95073dbd-529e-4168-8b89-5095f680e838" targetNamespace="http://schemas.microsoft.com/office/2006/metadata/properties" ma:root="true" ma:fieldsID="2c9ce8ff79c579f540e998bd19ce3e7f" ns2:_="">
    <xsd:import namespace="95073dbd-529e-4168-8b89-5095f680e83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073dbd-529e-4168-8b89-5095f680e8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1B09AE3-FA1D-40C8-A6CE-A2D9F55131C8}">
  <ds:schemaRefs>
    <ds:schemaRef ds:uri="http://schemas.microsoft.com/office/2006/metadata/properties"/>
    <ds:schemaRef ds:uri="http://www.w3.org/2000/xmlns/"/>
  </ds:schemaRefs>
</ds:datastoreItem>
</file>

<file path=customXml/itemProps2.xml><?xml version="1.0" encoding="utf-8"?>
<ds:datastoreItem xmlns:ds="http://schemas.openxmlformats.org/officeDocument/2006/customXml" ds:itemID="{A62B322D-2084-418A-8960-B074ADC5B6D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17F42CF-B9CA-4908-8A9B-C39A3CECED9A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361</Words>
  <Application>Microsoft Office PowerPoint</Application>
  <PresentationFormat>Breitbild</PresentationFormat>
  <Paragraphs>70</Paragraphs>
  <Slides>6</Slides>
  <Notes>1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7" baseType="lpstr">
      <vt:lpstr>Larissa</vt:lpstr>
      <vt:lpstr>PowerPoint-Präsentation</vt:lpstr>
      <vt:lpstr>Partner/Aufgabenstellung und SDG</vt:lpstr>
      <vt:lpstr>Arbeitsaufteilung</vt:lpstr>
      <vt:lpstr>Ziele</vt:lpstr>
      <vt:lpstr>PM</vt:lpstr>
      <vt:lpstr>Literatur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alexandra</dc:creator>
  <cp:lastModifiedBy>Gutmann Florian</cp:lastModifiedBy>
  <cp:revision>292</cp:revision>
  <cp:lastPrinted>2020-04-02T17:36:48Z</cp:lastPrinted>
  <dcterms:created xsi:type="dcterms:W3CDTF">2012-09-14T17:11:23Z</dcterms:created>
  <dcterms:modified xsi:type="dcterms:W3CDTF">2025-06-24T14:06:19Z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0x01010034CB4D94694C6C4497074175C0CB9EC7</vt:lpwstr>
  </property>
</Properties>
</file>