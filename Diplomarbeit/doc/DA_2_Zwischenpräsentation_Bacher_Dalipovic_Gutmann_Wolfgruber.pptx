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601" r:id="rId6"/>
    <p:sldId id="2610" r:id="rId7"/>
    <p:sldId id="2607" r:id="rId8"/>
    <p:sldId id="2625" r:id="rId9"/>
    <p:sldId id="2626" r:id="rId10"/>
    <p:sldId id="2609" r:id="rId11"/>
    <p:sldId id="2619" r:id="rId12"/>
    <p:sldId id="2621" r:id="rId13"/>
    <p:sldId id="2613" r:id="rId14"/>
    <p:sldId id="2624" r:id="rId15"/>
    <p:sldId id="2622" r:id="rId16"/>
    <p:sldId id="2605" r:id="rId17"/>
    <p:sldId id="2620" r:id="rId18"/>
    <p:sldId id="2617" r:id="rId19"/>
    <p:sldId id="2611" r:id="rId20"/>
    <p:sldId id="2615" r:id="rId21"/>
    <p:sldId id="2614" r:id="rId22"/>
    <p:sldId id="2612" r:id="rId23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E00"/>
    <a:srgbClr val="660033"/>
    <a:srgbClr val="43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2BAFB-5492-4C16-8748-4142A381302F}" v="46" dt="2024-10-22T20:18:44.926"/>
    <p1510:client id="{8448C55B-CB2F-4410-B9AC-000B9DC2786E}" v="171" dt="2024-10-22T17:25:33.176"/>
    <p1510:client id="{9B02D340-9D2B-4CF7-92AB-0A98624199B4}" v="1666" dt="2024-10-22T20:24:36.2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72" autoAdjust="0"/>
  </p:normalViewPr>
  <p:slideViewPr>
    <p:cSldViewPr snapToGrid="0">
      <p:cViewPr varScale="1">
        <p:scale>
          <a:sx n="69" d="100"/>
          <a:sy n="69" d="100"/>
        </p:scale>
        <p:origin x="543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negger Thomas" userId="99bfa2a6-4e61-4f83-81b7-7e9f21d7e98e" providerId="ADAL" clId="{E4596D5B-9F7D-40CB-89DB-084C52BAE1F9}"/>
    <pc:docChg chg="modSld sldOrd">
      <pc:chgData name="Hernegger Thomas" userId="99bfa2a6-4e61-4f83-81b7-7e9f21d7e98e" providerId="ADAL" clId="{E4596D5B-9F7D-40CB-89DB-084C52BAE1F9}" dt="2024-10-23T10:12:14.470" v="4"/>
      <pc:docMkLst>
        <pc:docMk/>
      </pc:docMkLst>
      <pc:sldChg chg="ord">
        <pc:chgData name="Hernegger Thomas" userId="99bfa2a6-4e61-4f83-81b7-7e9f21d7e98e" providerId="ADAL" clId="{E4596D5B-9F7D-40CB-89DB-084C52BAE1F9}" dt="2024-10-23T10:12:14.470" v="4"/>
        <pc:sldMkLst>
          <pc:docMk/>
          <pc:sldMk cId="2507891332" sldId="2593"/>
        </pc:sldMkLst>
      </pc:sldChg>
      <pc:sldChg chg="ord">
        <pc:chgData name="Hernegger Thomas" userId="99bfa2a6-4e61-4f83-81b7-7e9f21d7e98e" providerId="ADAL" clId="{E4596D5B-9F7D-40CB-89DB-084C52BAE1F9}" dt="2024-10-23T09:58:57.948" v="0" actId="20578"/>
        <pc:sldMkLst>
          <pc:docMk/>
          <pc:sldMk cId="2737374673" sldId="260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3075647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999" y="1"/>
            <a:ext cx="3075646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4597EA2D-D11E-4F11-940E-96FC3DC86B48}" type="datetimeFigureOut">
              <a:rPr lang="de-DE" smtClean="0"/>
              <a:pPr/>
              <a:t>25.02.2026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6" y="9721499"/>
            <a:ext cx="3075647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999" y="9721499"/>
            <a:ext cx="3075646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ED1FD422-38C1-46E5-AEB3-FCA53D65A208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358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9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25FA59D5-1C02-4780-AF81-09ADAD492357}" type="datetimeFigureOut">
              <a:rPr lang="de-AT" smtClean="0"/>
              <a:pPr/>
              <a:t>25.02.2026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19900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19" tIns="47259" rIns="94519" bIns="47259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519" tIns="47259" rIns="94519" bIns="47259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9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7AA6D168-C717-485B-B0C8-699ECBDF2CFF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733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239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01160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DBAB2-6CCA-40C7-8885-2C056A77E284}" type="datetime1">
              <a:rPr lang="de-AT" smtClean="0"/>
              <a:t>25.02.2026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/>
              <a:t>Diplomarbeit Name, Name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14" name="Textfeld 13"/>
          <p:cNvSpPr txBox="1"/>
          <p:nvPr userDrawn="1"/>
        </p:nvSpPr>
        <p:spPr>
          <a:xfrm>
            <a:off x="1967541" y="6381328"/>
            <a:ext cx="2688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www.</a:t>
            </a:r>
            <a:r>
              <a:rPr lang="de-AT" sz="16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htl-</a:t>
            </a:r>
            <a:r>
              <a:rPr lang="de-AT" sz="1600">
                <a:solidFill>
                  <a:schemeClr val="tx2"/>
                </a:solidFill>
                <a:latin typeface="Adobe Gothic Std B" pitchFamily="34" charset="-128"/>
                <a:ea typeface="Adobe Gothic Std B" pitchFamily="34" charset="-128"/>
              </a:rPr>
              <a:t>leoben</a:t>
            </a:r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.at</a:t>
            </a:r>
          </a:p>
        </p:txBody>
      </p:sp>
      <p:grpSp>
        <p:nvGrpSpPr>
          <p:cNvPr id="13" name="Gruppieren 12"/>
          <p:cNvGrpSpPr/>
          <p:nvPr userDrawn="1"/>
        </p:nvGrpSpPr>
        <p:grpSpPr>
          <a:xfrm>
            <a:off x="919464" y="1748436"/>
            <a:ext cx="699661" cy="4992932"/>
            <a:chOff x="689598" y="1748436"/>
            <a:chExt cx="524746" cy="4992932"/>
          </a:xfrm>
        </p:grpSpPr>
        <p:sp>
          <p:nvSpPr>
            <p:cNvPr id="8" name="Rechteck 7"/>
            <p:cNvSpPr/>
            <p:nvPr userDrawn="1"/>
          </p:nvSpPr>
          <p:spPr>
            <a:xfrm flipH="1">
              <a:off x="689598" y="1748436"/>
              <a:ext cx="90344" cy="4992932"/>
            </a:xfrm>
            <a:prstGeom prst="rect">
              <a:avLst/>
            </a:prstGeom>
            <a:solidFill>
              <a:srgbClr val="437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800"/>
            </a:p>
          </p:txBody>
        </p:sp>
        <p:sp>
          <p:nvSpPr>
            <p:cNvPr id="10" name="Rechteck 9"/>
            <p:cNvSpPr/>
            <p:nvPr userDrawn="1"/>
          </p:nvSpPr>
          <p:spPr>
            <a:xfrm flipH="1">
              <a:off x="827584" y="1748436"/>
              <a:ext cx="90344" cy="499293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800"/>
            </a:p>
          </p:txBody>
        </p:sp>
        <p:sp>
          <p:nvSpPr>
            <p:cNvPr id="11" name="Rechteck 10"/>
            <p:cNvSpPr/>
            <p:nvPr userDrawn="1"/>
          </p:nvSpPr>
          <p:spPr>
            <a:xfrm flipH="1">
              <a:off x="971600" y="1748436"/>
              <a:ext cx="90344" cy="4992932"/>
            </a:xfrm>
            <a:prstGeom prst="rect">
              <a:avLst/>
            </a:prstGeom>
            <a:solidFill>
              <a:srgbClr val="6600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800"/>
            </a:p>
          </p:txBody>
        </p:sp>
        <p:sp>
          <p:nvSpPr>
            <p:cNvPr id="15" name="Rechteck 14"/>
            <p:cNvSpPr/>
            <p:nvPr userDrawn="1"/>
          </p:nvSpPr>
          <p:spPr>
            <a:xfrm flipH="1">
              <a:off x="1124000" y="1748436"/>
              <a:ext cx="90344" cy="4992932"/>
            </a:xfrm>
            <a:prstGeom prst="rect">
              <a:avLst/>
            </a:prstGeom>
            <a:solidFill>
              <a:srgbClr val="F4A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800"/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B09A13F7-1B40-44C3-A85B-099760F609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7408" y="260648"/>
            <a:ext cx="6417221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5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 userDrawn="1"/>
        </p:nvSpPr>
        <p:spPr>
          <a:xfrm flipH="1">
            <a:off x="415496" y="0"/>
            <a:ext cx="48000" cy="6858000"/>
          </a:xfrm>
          <a:prstGeom prst="rect">
            <a:avLst/>
          </a:prstGeom>
          <a:solidFill>
            <a:srgbClr val="F4A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9158" y="188640"/>
            <a:ext cx="10270380" cy="72008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734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B591F-AE7F-406B-977E-415D708CD05B}" type="datetime1">
              <a:rPr lang="de-AT" smtClean="0"/>
              <a:t>25.02.2026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40" y="0"/>
            <a:ext cx="22577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Gerade Verbindung 8"/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0EAD9D94-C426-47EB-AAB7-45A933A82B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69600" y="6357600"/>
            <a:ext cx="1835834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9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4213-31A7-43A9-B381-650B72838F3D}" type="datetime1">
              <a:rPr lang="de-AT" smtClean="0"/>
              <a:t>25.02.2026</a:t>
            </a:fld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292875C-4C90-4207-B4C0-4FCF5E8F3431}"/>
              </a:ext>
            </a:extLst>
          </p:cNvPr>
          <p:cNvSpPr/>
          <p:nvPr userDrawn="1"/>
        </p:nvSpPr>
        <p:spPr>
          <a:xfrm flipH="1">
            <a:off x="415496" y="0"/>
            <a:ext cx="48000" cy="6858000"/>
          </a:xfrm>
          <a:prstGeom prst="rect">
            <a:avLst/>
          </a:prstGeom>
          <a:solidFill>
            <a:srgbClr val="F4A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cxnSp>
        <p:nvCxnSpPr>
          <p:cNvPr id="26" name="Gerade Verbindung 8">
            <a:extLst>
              <a:ext uri="{FF2B5EF4-FFF2-40B4-BE49-F238E27FC236}">
                <a16:creationId xmlns:a16="http://schemas.microsoft.com/office/drawing/2014/main" id="{B231FD8D-BD46-413B-B98F-46B87457439F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">
            <a:extLst>
              <a:ext uri="{FF2B5EF4-FFF2-40B4-BE49-F238E27FC236}">
                <a16:creationId xmlns:a16="http://schemas.microsoft.com/office/drawing/2014/main" id="{6A517129-E7EA-4428-A11D-7211A6530B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40" y="0"/>
            <a:ext cx="22577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8" name="Gerade Verbindung 8">
            <a:extLst>
              <a:ext uri="{FF2B5EF4-FFF2-40B4-BE49-F238E27FC236}">
                <a16:creationId xmlns:a16="http://schemas.microsoft.com/office/drawing/2014/main" id="{FF9F6E03-68AB-4FB8-BF89-42F3F9730FF5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fik 28">
            <a:extLst>
              <a:ext uri="{FF2B5EF4-FFF2-40B4-BE49-F238E27FC236}">
                <a16:creationId xmlns:a16="http://schemas.microsoft.com/office/drawing/2014/main" id="{F7F529DC-F329-4803-9417-F73C6EB664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69600" y="6357600"/>
            <a:ext cx="1835834" cy="370800"/>
          </a:xfrm>
          <a:prstGeom prst="rect">
            <a:avLst/>
          </a:prstGeom>
        </p:spPr>
      </p:pic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61780AA7-F848-43F9-AE0D-14BBE9A6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</a:p>
        </p:txBody>
      </p:sp>
    </p:spTree>
    <p:extLst>
      <p:ext uri="{BB962C8B-B14F-4D97-AF65-F5344CB8AC3E}">
        <p14:creationId xmlns:p14="http://schemas.microsoft.com/office/powerpoint/2010/main" val="35245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941989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17053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941989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1705316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3C63-4118-48BA-956A-11DEEC1AA07D}" type="datetime1">
              <a:rPr lang="de-AT" smtClean="0"/>
              <a:t>25.02.2026</a:t>
            </a:fld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4847AFA-A3CD-4095-A90B-9EA9DAE44BC9}"/>
              </a:ext>
            </a:extLst>
          </p:cNvPr>
          <p:cNvSpPr/>
          <p:nvPr userDrawn="1"/>
        </p:nvSpPr>
        <p:spPr>
          <a:xfrm flipH="1">
            <a:off x="415496" y="0"/>
            <a:ext cx="48000" cy="6858000"/>
          </a:xfrm>
          <a:prstGeom prst="rect">
            <a:avLst/>
          </a:prstGeom>
          <a:solidFill>
            <a:srgbClr val="F4A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cxnSp>
        <p:nvCxnSpPr>
          <p:cNvPr id="12" name="Gerade Verbindung 8">
            <a:extLst>
              <a:ext uri="{FF2B5EF4-FFF2-40B4-BE49-F238E27FC236}">
                <a16:creationId xmlns:a16="http://schemas.microsoft.com/office/drawing/2014/main" id="{D2F1EB9E-8380-425B-B884-1A5E1DD9E9F2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>
            <a:extLst>
              <a:ext uri="{FF2B5EF4-FFF2-40B4-BE49-F238E27FC236}">
                <a16:creationId xmlns:a16="http://schemas.microsoft.com/office/drawing/2014/main" id="{27147E67-BC55-4256-9CDB-D44AF9979F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40" y="0"/>
            <a:ext cx="22577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4" name="Gerade Verbindung 8">
            <a:extLst>
              <a:ext uri="{FF2B5EF4-FFF2-40B4-BE49-F238E27FC236}">
                <a16:creationId xmlns:a16="http://schemas.microsoft.com/office/drawing/2014/main" id="{C32164E0-C3F5-4411-BA01-05D65208091F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6DD4E8E-8063-4486-9BB4-F573C25FB9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69600" y="6357600"/>
            <a:ext cx="1835834" cy="370800"/>
          </a:xfrm>
          <a:prstGeom prst="rect">
            <a:avLst/>
          </a:prstGeom>
        </p:spPr>
      </p:pic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155BF4B4-4484-4D9C-BFD8-E75462D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</a:p>
        </p:txBody>
      </p:sp>
    </p:spTree>
    <p:extLst>
      <p:ext uri="{BB962C8B-B14F-4D97-AF65-F5344CB8AC3E}">
        <p14:creationId xmlns:p14="http://schemas.microsoft.com/office/powerpoint/2010/main" val="103046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6D3EE-23A3-40C2-AAE3-0430D418E6CE}" type="datetime1">
              <a:rPr lang="de-AT" smtClean="0"/>
              <a:t>25.02.2026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Diplomarbeit Name, Name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72196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2F795-10B4-41AA-AEDE-F815B308DCDB}" type="datetime1">
              <a:rPr lang="de-AT" smtClean="0"/>
              <a:t>25.02.2026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Diplomarbeit Name, Name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98417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355E-663F-46F6-A58A-7E827B834F26}" type="datetime1">
              <a:rPr lang="de-AT" smtClean="0"/>
              <a:t>25.02.2026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Diplomarbeit Name, Name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08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8" r:id="rId5"/>
    <p:sldLayoutId id="2147483659" r:id="rId6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ceur-ws.org/Vol-3885/paper26.pdf" TargetMode="External"/><Relationship Id="rId3" Type="http://schemas.openxmlformats.org/officeDocument/2006/relationships/hyperlink" Target="https://www.python.org/" TargetMode="External"/><Relationship Id="rId7" Type="http://schemas.openxmlformats.org/officeDocument/2006/relationships/hyperlink" Target="https://pyimagesearch.com/2015/09/14/ball-tracking-with-opencv/" TargetMode="External"/><Relationship Id="rId2" Type="http://schemas.openxmlformats.org/officeDocument/2006/relationships/hyperlink" Target="https://www.geeksforgeeks.org/blogs/mysql-vs-h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nipub.uni-graz.at/obvugrhs/content/titleinfo/1390304/full.pdf" TargetMode="External"/><Relationship Id="rId5" Type="http://schemas.openxmlformats.org/officeDocument/2006/relationships/hyperlink" Target="https://www.oebv.at/internal/36d83adf-0653-4bac-a30e-fd45b2789c38" TargetMode="External"/><Relationship Id="rId4" Type="http://schemas.openxmlformats.org/officeDocument/2006/relationships/hyperlink" Target="https://www.chartjs.org/docs/latest/getting-started/usage.html" TargetMode="External"/><Relationship Id="rId9" Type="http://schemas.openxmlformats.org/officeDocument/2006/relationships/hyperlink" Target="https://www.python-forum.de/viewtopic.php?t=4547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26"/>
          <p:cNvSpPr txBox="1">
            <a:spLocks noChangeArrowheads="1"/>
          </p:cNvSpPr>
          <p:nvPr/>
        </p:nvSpPr>
        <p:spPr>
          <a:xfrm>
            <a:off x="2895600" y="1928802"/>
            <a:ext cx="7629556" cy="2571768"/>
          </a:xfrm>
          <a:prstGeom prst="rect">
            <a:avLst/>
          </a:prstGeom>
        </p:spPr>
        <p:txBody>
          <a:bodyPr/>
          <a:lstStyle/>
          <a:p>
            <a:r>
              <a:rPr lang="de-AT" sz="3200" b="1" dirty="0">
                <a:solidFill>
                  <a:srgbClr val="9BBB59"/>
                </a:solidFill>
              </a:rPr>
              <a:t>Basketball - Effizienzsteigerung durch Videoanalyse</a:t>
            </a:r>
          </a:p>
          <a:p>
            <a:pPr lvl="0">
              <a:spcBef>
                <a:spcPct val="0"/>
              </a:spcBef>
              <a:defRPr/>
            </a:pPr>
            <a:endParaRPr lang="de-DE" sz="3200" dirty="0">
              <a:solidFill>
                <a:srgbClr val="0070C0"/>
              </a:solidFill>
            </a:endParaRP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ED76D2C5-1C5A-49E1-B111-D7EA454A9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317" y="4258074"/>
            <a:ext cx="637381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nl-NL" sz="2000" dirty="0"/>
              <a:t>Bacher Fabian, Dalipovic Nino, Gutmann Florian, </a:t>
            </a:r>
          </a:p>
          <a:p>
            <a:pPr algn="r"/>
            <a:r>
              <a:rPr lang="nl-NL" sz="2000" dirty="0"/>
              <a:t>Wolfgruber Bastian </a:t>
            </a:r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CF2A42E-995E-450D-9017-7EE5A0A26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317" y="4908781"/>
            <a:ext cx="63738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de-AT" sz="2000" dirty="0"/>
              <a:t>26.02.2026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549EEA25-235A-4DB2-B18D-8226E1B72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317" y="5304564"/>
            <a:ext cx="63738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sz="2000" dirty="0"/>
              <a:t>Betreuer: DI Darko Jankovic/ DI (FH) Günther Hutter </a:t>
            </a:r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0CE138CF-753E-4573-B47E-8055A445E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317" y="5647495"/>
            <a:ext cx="63738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sz="2000" dirty="0"/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3194803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2AB2-4671-F5D0-C2A7-B3E6A0187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Partner/Aufgabenstellung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AB210-5168-C3DB-8B71-A365AB33F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HTL Leoben</a:t>
            </a:r>
          </a:p>
          <a:p>
            <a:r>
              <a:rPr lang="de-DE" b="1" dirty="0"/>
              <a:t>Aufgabenstellung:</a:t>
            </a:r>
          </a:p>
          <a:p>
            <a:pPr lvl="1"/>
            <a:r>
              <a:rPr lang="de-DE" dirty="0"/>
              <a:t>Entwicklung eines Systems </a:t>
            </a:r>
            <a:r>
              <a:rPr lang="de-DE"/>
              <a:t>bis März </a:t>
            </a:r>
            <a:r>
              <a:rPr lang="de-DE" dirty="0"/>
              <a:t>2026, welches Basketballwürfe automatisch analysiert und Spieler*innen durch visuelles Feedback und Statistiken hilft, ihre Wurftechnik messbar zu verbessern.</a:t>
            </a:r>
          </a:p>
          <a:p>
            <a:pPr marL="457200" lvl="1" indent="0">
              <a:buNone/>
            </a:pPr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F50C9E-C2CA-A738-6A16-B76A8DC7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Gutmann, Wolfgruber</a:t>
            </a:r>
            <a:endParaRPr lang="de-A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D353C-30C7-45E4-C0AB-D11A726B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39881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507797-6B76-0C25-C624-7F0A3F111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Übersicht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D51D0F-8B08-63C8-5C4A-B07E2A6E6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AT" dirty="0"/>
              <a:t>Bacher</a:t>
            </a:r>
          </a:p>
          <a:p>
            <a:pPr lvl="1"/>
            <a:r>
              <a:rPr lang="de-AT" dirty="0"/>
              <a:t>Videoanalyse (Soll- Situation)</a:t>
            </a:r>
          </a:p>
          <a:p>
            <a:r>
              <a:rPr lang="de-AT" dirty="0" err="1"/>
              <a:t>Dalipovic</a:t>
            </a:r>
            <a:endParaRPr lang="de-AT" dirty="0"/>
          </a:p>
          <a:p>
            <a:pPr lvl="1"/>
            <a:r>
              <a:rPr lang="de-AT" dirty="0"/>
              <a:t>Frontend ( Spieler - &amp; Statistikansicht)</a:t>
            </a:r>
          </a:p>
          <a:p>
            <a:r>
              <a:rPr lang="de-AT" dirty="0"/>
              <a:t>Gutmann</a:t>
            </a:r>
          </a:p>
          <a:p>
            <a:pPr lvl="1"/>
            <a:r>
              <a:rPr lang="de-AT" dirty="0"/>
              <a:t>Backend &amp; Datenbank</a:t>
            </a:r>
          </a:p>
          <a:p>
            <a:pPr lvl="1"/>
            <a:r>
              <a:rPr lang="de-AT" dirty="0"/>
              <a:t>Bereitstellung einer Rest-API für:</a:t>
            </a:r>
          </a:p>
          <a:p>
            <a:pPr lvl="2"/>
            <a:r>
              <a:rPr lang="de-AT" dirty="0"/>
              <a:t>Frontend </a:t>
            </a:r>
          </a:p>
          <a:p>
            <a:pPr lvl="2"/>
            <a:r>
              <a:rPr lang="de-AT" dirty="0"/>
              <a:t>Videoanalyse</a:t>
            </a:r>
          </a:p>
          <a:p>
            <a:pPr lvl="1"/>
            <a:r>
              <a:rPr lang="de-AT" dirty="0"/>
              <a:t>Speicherung und Auswertung der Wurfdaten</a:t>
            </a:r>
          </a:p>
          <a:p>
            <a:r>
              <a:rPr lang="de-AT" dirty="0"/>
              <a:t>Wolfgruber</a:t>
            </a:r>
          </a:p>
          <a:p>
            <a:pPr lvl="1"/>
            <a:r>
              <a:rPr lang="de-AT" dirty="0"/>
              <a:t>Videoanalyse (Ist- Situation)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CEE3DE-A4F0-41C9-0777-5FECD32B7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Gutmann, Wolfgruber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B21F68-B5CA-4A7D-ACFA-A5DE1AF5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72429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1D02F2-2367-D26D-5196-74D23E878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Aktueller Stand Frontend (</a:t>
            </a:r>
            <a:r>
              <a:rPr lang="de-AT" dirty="0" err="1"/>
              <a:t>Dalipovic</a:t>
            </a:r>
            <a:r>
              <a:rPr lang="de-AT" dirty="0"/>
              <a:t>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ED4EB0-E91D-91E3-D4DF-6B9CFBC39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Gutmann, Wolfgruber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DA73BD-0027-580A-B686-799D05FC8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4</a:t>
            </a:fld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A12315-A7CF-8B0E-2B2E-3567F2BA9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UI vollständig umgesetzt</a:t>
            </a:r>
          </a:p>
          <a:p>
            <a:r>
              <a:rPr lang="de-AT" dirty="0"/>
              <a:t>Authentifizierung integriert</a:t>
            </a:r>
          </a:p>
          <a:p>
            <a:r>
              <a:rPr lang="de-AT" dirty="0"/>
              <a:t>Video-Upload-Workflow implementiert</a:t>
            </a:r>
          </a:p>
          <a:p>
            <a:r>
              <a:rPr lang="de-AT" dirty="0"/>
              <a:t>Analyse-Darstellung vorhanden</a:t>
            </a:r>
          </a:p>
          <a:p>
            <a:r>
              <a:rPr lang="de-AT" dirty="0"/>
              <a:t>Dashboard-&amp; Statistik-Ansichten erstellt</a:t>
            </a:r>
          </a:p>
          <a:p>
            <a:r>
              <a:rPr lang="de-AT" dirty="0"/>
              <a:t>Session-Verlauf integriert</a:t>
            </a:r>
          </a:p>
          <a:p>
            <a:r>
              <a:rPr lang="de-AT" dirty="0"/>
              <a:t>API-Anbindung vorbereitet</a:t>
            </a:r>
          </a:p>
          <a:p>
            <a:r>
              <a:rPr lang="de-AT" dirty="0"/>
              <a:t>Finale IST/SOLL- Datenkopplung in Umsetzung</a:t>
            </a:r>
          </a:p>
        </p:txBody>
      </p:sp>
    </p:spTree>
    <p:extLst>
      <p:ext uri="{BB962C8B-B14F-4D97-AF65-F5344CB8AC3E}">
        <p14:creationId xmlns:p14="http://schemas.microsoft.com/office/powerpoint/2010/main" val="1572749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BF38D3-D39F-7E17-C496-01A86BF6A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Was wollten wir im Frontend Umsetzen? (</a:t>
            </a:r>
            <a:r>
              <a:rPr lang="de-AT" dirty="0" err="1"/>
              <a:t>Dalipovic</a:t>
            </a:r>
            <a:r>
              <a:rPr lang="de-AT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AABB0F-0779-4F06-9F70-F36A2920C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Ziel</a:t>
            </a:r>
          </a:p>
          <a:p>
            <a:pPr lvl="1"/>
            <a:r>
              <a:rPr lang="de-AT" dirty="0"/>
              <a:t>intuitives, reaktionsschnelle UI für Videoanalyse</a:t>
            </a:r>
          </a:p>
          <a:p>
            <a:r>
              <a:rPr lang="de-AT" dirty="0"/>
              <a:t>Geplante Kernfunktion</a:t>
            </a:r>
          </a:p>
          <a:p>
            <a:pPr lvl="1"/>
            <a:r>
              <a:rPr lang="de-AT" dirty="0"/>
              <a:t>Upload, Wiedergabe, Auswertung</a:t>
            </a:r>
          </a:p>
          <a:p>
            <a:r>
              <a:rPr lang="de-AT" dirty="0"/>
              <a:t>Benutzerführung / User-Flow</a:t>
            </a:r>
          </a:p>
          <a:p>
            <a:pPr lvl="1"/>
            <a:r>
              <a:rPr lang="de-AT" dirty="0"/>
              <a:t>Login -&gt; Dashboard -&gt; Analyse -&gt; Statistik</a:t>
            </a:r>
          </a:p>
          <a:p>
            <a:r>
              <a:rPr lang="de-AT" dirty="0"/>
              <a:t>Darstellung der Analyse &amp; Statistik in Tabellen/Charts</a:t>
            </a:r>
          </a:p>
          <a:p>
            <a:r>
              <a:rPr lang="de-AT" dirty="0"/>
              <a:t>Verbindung zur Backend-Logik für Auth, Daten, Sessions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534313-D08B-DE6F-A055-5B4CB2E0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Gutmann, Wolfgruber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090835-59DC-FC86-562D-F168E145C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34673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1448C0-32A5-51F9-0989-013A6C975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Wie haben wir das Frontend umgesetzt? (</a:t>
            </a:r>
            <a:r>
              <a:rPr lang="de-AT" dirty="0" err="1"/>
              <a:t>Dalipovic</a:t>
            </a:r>
            <a:r>
              <a:rPr lang="de-AT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4D8BB0-4498-BC2F-E8D1-51D0813D9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Technologien</a:t>
            </a:r>
          </a:p>
          <a:p>
            <a:pPr lvl="1"/>
            <a:r>
              <a:rPr lang="de-AT" dirty="0"/>
              <a:t>HTML, CSS (</a:t>
            </a:r>
            <a:r>
              <a:rPr lang="de-AT" dirty="0" err="1"/>
              <a:t>Tailwind</a:t>
            </a:r>
            <a:r>
              <a:rPr lang="de-AT" dirty="0"/>
              <a:t>), JavaScript</a:t>
            </a:r>
          </a:p>
          <a:p>
            <a:r>
              <a:rPr lang="de-AT" dirty="0"/>
              <a:t>Architektur</a:t>
            </a:r>
          </a:p>
          <a:p>
            <a:pPr lvl="1"/>
            <a:r>
              <a:rPr lang="de-AT" dirty="0"/>
              <a:t>Single-Page-Struktur mit </a:t>
            </a:r>
            <a:r>
              <a:rPr lang="de-AT" dirty="0" err="1"/>
              <a:t>Section</a:t>
            </a:r>
            <a:r>
              <a:rPr lang="de-AT" dirty="0"/>
              <a:t> -</a:t>
            </a:r>
            <a:r>
              <a:rPr lang="de-AT" dirty="0" err="1"/>
              <a:t>Toggling</a:t>
            </a:r>
            <a:endParaRPr lang="de-AT" dirty="0"/>
          </a:p>
          <a:p>
            <a:r>
              <a:rPr lang="de-AT" dirty="0"/>
              <a:t>DOM-Manipulation &amp; Event-Handling per </a:t>
            </a:r>
            <a:r>
              <a:rPr lang="de-AT" dirty="0" err="1"/>
              <a:t>VanillaJS</a:t>
            </a:r>
            <a:endParaRPr lang="de-AT" dirty="0"/>
          </a:p>
          <a:p>
            <a:r>
              <a:rPr lang="de-AT" dirty="0"/>
              <a:t>API-Anbindung &amp; dynamische Datenanzeige (</a:t>
            </a:r>
            <a:r>
              <a:rPr lang="de-AT" dirty="0" err="1"/>
              <a:t>fetch</a:t>
            </a:r>
            <a:r>
              <a:rPr lang="de-AT" dirty="0"/>
              <a:t>)</a:t>
            </a:r>
          </a:p>
          <a:p>
            <a:r>
              <a:rPr lang="de-AT" dirty="0"/>
              <a:t>Zustandsverwaltung über </a:t>
            </a:r>
            <a:r>
              <a:rPr lang="de-AT" dirty="0" err="1"/>
              <a:t>localStorage</a:t>
            </a:r>
            <a:endParaRPr lang="de-AT" dirty="0"/>
          </a:p>
          <a:p>
            <a:r>
              <a:rPr lang="de-AT" dirty="0"/>
              <a:t>Modularisierung</a:t>
            </a:r>
          </a:p>
          <a:p>
            <a:pPr lvl="1"/>
            <a:r>
              <a:rPr lang="de-AT" dirty="0" err="1"/>
              <a:t>seperate</a:t>
            </a:r>
            <a:r>
              <a:rPr lang="de-AT" dirty="0"/>
              <a:t> Dateien für API, AUTH, UI-Logik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360C51-51C3-760B-4E53-C55634638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Gutmann, Wolfgruber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CEBB24-EC2A-BFA4-F3C6-2DC64A4E2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44532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F0AB75-7464-1CFE-655A-25F976D82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Aktueller Stand Backend (Gutmann)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7574B8-E846-C094-2790-0D3A5A42C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AT" dirty="0"/>
              <a:t>Projektstruktur umgesetzt</a:t>
            </a:r>
          </a:p>
          <a:p>
            <a:pPr lvl="1"/>
            <a:r>
              <a:rPr lang="de-AT" dirty="0"/>
              <a:t>Layout Architecture</a:t>
            </a:r>
          </a:p>
          <a:p>
            <a:r>
              <a:rPr lang="de-AT" dirty="0"/>
              <a:t>Datenbank</a:t>
            </a:r>
          </a:p>
          <a:p>
            <a:pPr lvl="1"/>
            <a:r>
              <a:rPr lang="de-AT" dirty="0"/>
              <a:t>Relationale DB mit H2</a:t>
            </a:r>
          </a:p>
          <a:p>
            <a:pPr lvl="1"/>
            <a:r>
              <a:rPr lang="de-AT" dirty="0"/>
              <a:t>automatisch über JPA/Hibernate generiert</a:t>
            </a:r>
          </a:p>
          <a:p>
            <a:r>
              <a:rPr lang="de-AT" dirty="0"/>
              <a:t>REST-API implementiert</a:t>
            </a:r>
          </a:p>
          <a:p>
            <a:pPr lvl="1"/>
            <a:r>
              <a:rPr lang="de-AT" dirty="0"/>
              <a:t>Z.B: Spieler anlegen &amp; einloggen</a:t>
            </a:r>
          </a:p>
          <a:p>
            <a:r>
              <a:rPr lang="de-AT" dirty="0"/>
              <a:t>Frontend Anbindung</a:t>
            </a:r>
          </a:p>
          <a:p>
            <a:pPr lvl="1"/>
            <a:r>
              <a:rPr lang="de-AT" dirty="0"/>
              <a:t>Backend erfolgreich an Frontend angebunden</a:t>
            </a:r>
          </a:p>
          <a:p>
            <a:r>
              <a:rPr lang="de-AT" dirty="0"/>
              <a:t>Nächsten Schritte</a:t>
            </a:r>
          </a:p>
          <a:p>
            <a:pPr lvl="1"/>
            <a:r>
              <a:rPr lang="de-AT" dirty="0"/>
              <a:t>mit Hilfe des </a:t>
            </a:r>
            <a:r>
              <a:rPr lang="de-AT" dirty="0" err="1"/>
              <a:t>Frontends</a:t>
            </a:r>
            <a:r>
              <a:rPr lang="de-AT" dirty="0"/>
              <a:t> Änderungen anpassen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0F12BF8-BDFF-33FB-B931-11D19074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Gutmann, Wolfgruber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4B8B25-DE8D-3517-D58B-B900E8BA0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46912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30C6F4-91CB-78C5-87EA-C19C1838E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/>
              <a:t>Projektstruktur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15ED27EC-0629-5521-B0EE-1FD2614EBEB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13580" y="1161299"/>
            <a:ext cx="5026112" cy="4826029"/>
          </a:xfrm>
          <a:prstGeom prst="rect">
            <a:avLst/>
          </a:prstGeom>
        </p:spPr>
      </p:pic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14077E8-2A6E-DF3C-1110-6C3B5FAC82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AT" dirty="0" err="1"/>
              <a:t>controller</a:t>
            </a:r>
            <a:endParaRPr lang="de-AT" dirty="0"/>
          </a:p>
          <a:p>
            <a:pPr lvl="1"/>
            <a:r>
              <a:rPr lang="de-AT" dirty="0"/>
              <a:t>Rest-Endpunkte als Schnittstelle zum Frontend</a:t>
            </a:r>
          </a:p>
          <a:p>
            <a:r>
              <a:rPr lang="de-AT" dirty="0" err="1"/>
              <a:t>dto</a:t>
            </a:r>
            <a:endParaRPr lang="de-AT" dirty="0"/>
          </a:p>
          <a:p>
            <a:pPr lvl="1"/>
            <a:r>
              <a:rPr lang="de-AT" dirty="0"/>
              <a:t>sichere Datenübertragung </a:t>
            </a:r>
            <a:r>
              <a:rPr lang="de-AT" dirty="0" err="1"/>
              <a:t>zw</a:t>
            </a:r>
            <a:r>
              <a:rPr lang="de-AT" dirty="0"/>
              <a:t> Backend Frontend</a:t>
            </a:r>
          </a:p>
          <a:p>
            <a:r>
              <a:rPr lang="de-AT" dirty="0" err="1"/>
              <a:t>exception</a:t>
            </a:r>
            <a:endParaRPr lang="de-AT" dirty="0"/>
          </a:p>
          <a:p>
            <a:pPr lvl="1"/>
            <a:r>
              <a:rPr lang="de-AT" dirty="0"/>
              <a:t>zentrale Fehlerbehandlung und einheitliche Fehlermeldungen</a:t>
            </a:r>
          </a:p>
          <a:p>
            <a:r>
              <a:rPr lang="de-AT" dirty="0" err="1"/>
              <a:t>model</a:t>
            </a:r>
            <a:endParaRPr lang="de-AT" dirty="0"/>
          </a:p>
          <a:p>
            <a:pPr lvl="1"/>
            <a:r>
              <a:rPr lang="de-AT" dirty="0"/>
              <a:t>Entitäten</a:t>
            </a:r>
          </a:p>
          <a:p>
            <a:r>
              <a:rPr lang="de-AT" dirty="0" err="1"/>
              <a:t>repository</a:t>
            </a:r>
            <a:endParaRPr lang="de-AT" dirty="0"/>
          </a:p>
          <a:p>
            <a:pPr lvl="1"/>
            <a:r>
              <a:rPr lang="de-AT" dirty="0"/>
              <a:t>Datenzugriff und Abfragen auf Datenbankebene</a:t>
            </a:r>
          </a:p>
          <a:p>
            <a:r>
              <a:rPr lang="de-AT" dirty="0" err="1"/>
              <a:t>service</a:t>
            </a:r>
            <a:endParaRPr lang="de-AT" dirty="0"/>
          </a:p>
          <a:p>
            <a:pPr lvl="1"/>
            <a:r>
              <a:rPr lang="de-AT" dirty="0"/>
              <a:t>Geschäftslogik und Berechnungen statistischer Auswertungen</a:t>
            </a:r>
          </a:p>
          <a:p>
            <a:r>
              <a:rPr lang="de-AT" dirty="0" err="1"/>
              <a:t>resources</a:t>
            </a:r>
            <a:endParaRPr lang="de-AT" dirty="0"/>
          </a:p>
          <a:p>
            <a:pPr lvl="1"/>
            <a:r>
              <a:rPr lang="de-AT" dirty="0"/>
              <a:t>Konfigurationsdateien und Datenbankdateien</a:t>
            </a:r>
          </a:p>
          <a:p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9C9A05-69FD-3FEC-DC08-6DF4DFEC4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8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D0AE3B-B26C-A6AA-DE8A-E4F4DFCAE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Gutmann, Wolfgruber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25128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011E37-BA89-F5FD-6051-E825A4AD4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Umsetzungsplan (Bacher)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161FA4-294B-C4B5-00CF-6B6B33475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automatische Analyse eines Basketballwurfs aus Video</a:t>
            </a:r>
          </a:p>
          <a:p>
            <a:r>
              <a:rPr lang="de-AT" dirty="0"/>
              <a:t>Bestimmung des Release-Zeitpunkts</a:t>
            </a:r>
          </a:p>
          <a:p>
            <a:r>
              <a:rPr lang="de-AT" dirty="0"/>
              <a:t>Berechnung einer physikalischen Soll-Flugbahn</a:t>
            </a:r>
          </a:p>
          <a:p>
            <a:r>
              <a:rPr lang="de-AT" dirty="0"/>
              <a:t>Vergleich IST- Flugbahn vs. SOLL- Flugbahn</a:t>
            </a:r>
          </a:p>
          <a:p>
            <a:r>
              <a:rPr lang="de-AT" dirty="0"/>
              <a:t>qualitative Bewertung der Wurfqualität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6D6961-369D-EF9A-904A-0E70C5AE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Gutmann, Wolfgruber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466477F-A843-6F24-D552-32CE90E23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86307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8D40EA-ACA0-6B2B-C408-D1618EA4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Aktueller Stand Soll Situation (Bacher)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3DA10D-9FC8-3269-C1C7-539BEC996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dirty="0"/>
              <a:t>Was funktioniert</a:t>
            </a:r>
          </a:p>
          <a:p>
            <a:pPr lvl="1"/>
            <a:r>
              <a:rPr lang="de-AT" dirty="0"/>
              <a:t>Physikalisch korrekte Soll-Flugbahn-Berechnung</a:t>
            </a:r>
          </a:p>
          <a:p>
            <a:pPr lvl="2"/>
            <a:r>
              <a:rPr lang="de-AT" dirty="0"/>
              <a:t>Abwurfwinkel Zielbereich: 45-55°</a:t>
            </a:r>
          </a:p>
          <a:p>
            <a:pPr lvl="2"/>
            <a:r>
              <a:rPr lang="de-AT" dirty="0"/>
              <a:t>Eintrittswinkel Zielbereich: 40-50°</a:t>
            </a:r>
          </a:p>
          <a:p>
            <a:pPr lvl="1"/>
            <a:r>
              <a:rPr lang="de-AT" dirty="0"/>
              <a:t>Video Import &amp; FPS- Validierung</a:t>
            </a:r>
          </a:p>
          <a:p>
            <a:pPr lvl="2"/>
            <a:r>
              <a:rPr lang="de-AT" dirty="0"/>
              <a:t>Videos werden korrekt ausgelesen</a:t>
            </a:r>
          </a:p>
          <a:p>
            <a:pPr lvl="2"/>
            <a:r>
              <a:rPr lang="de-AT" dirty="0"/>
              <a:t>effektives FPS werden korrekt ausgelesen</a:t>
            </a:r>
          </a:p>
          <a:p>
            <a:pPr lvl="1"/>
            <a:r>
              <a:rPr lang="de-AT" dirty="0"/>
              <a:t>Ausgabe </a:t>
            </a:r>
          </a:p>
          <a:p>
            <a:pPr lvl="2"/>
            <a:r>
              <a:rPr lang="de-AT" dirty="0" err="1"/>
              <a:t>Diagnostics</a:t>
            </a:r>
            <a:r>
              <a:rPr lang="de-AT" dirty="0"/>
              <a:t> - PNG wird erzeugt</a:t>
            </a:r>
          </a:p>
          <a:p>
            <a:pPr lvl="2"/>
            <a:r>
              <a:rPr lang="de-AT" dirty="0"/>
              <a:t>CSV/JSON  Outputs werden erzeugt</a:t>
            </a:r>
          </a:p>
          <a:p>
            <a:pPr lvl="2"/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EDA584-F01A-0173-2C27-8A53AFB13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Gutmann, Wolfgruber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20E8B0-6789-0A6A-5F47-C0B9F0DE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82645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FDAB56-C7F5-B9C4-92F1-FF5714EC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Aktuelles Hauptproblem (Bacher)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82E23D-94B6-0301-9695-F1D6A3F5F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Release Erkennung</a:t>
            </a:r>
          </a:p>
          <a:p>
            <a:r>
              <a:rPr lang="de-AT" dirty="0"/>
              <a:t>Release - Peak wird mathematisch erkannt</a:t>
            </a:r>
          </a:p>
          <a:p>
            <a:r>
              <a:rPr lang="de-AT" dirty="0"/>
              <a:t>Instabilität entsteht durch unruhige Ballverfolgung in einzelnen Frames</a:t>
            </a:r>
          </a:p>
          <a:p>
            <a:r>
              <a:rPr lang="de-AT" dirty="0"/>
              <a:t>die Methode funktioniert, aber ihre Stabilität hängt von der Tracking Qualität ab.</a:t>
            </a:r>
          </a:p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CCB20FE-5C2A-FE34-9715-809CF8A0F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Gutmann, Wolfgruber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4A4072-A5C0-55A4-B5B6-5A26975A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66621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D15DE4-1F1E-9C5C-F662-2A6E157C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Darstellung Soll Flugbahn (Bacher)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D38C6A-A44D-31D9-00A4-FBC57257E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Gutmann, Wolfgruber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8F0D68-5E27-FF22-1B53-08688E188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12</a:t>
            </a:fld>
            <a:endParaRPr lang="de-AT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A4101B58-936C-9B01-6E20-6D0941CEC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413" y="1052513"/>
            <a:ext cx="8991173" cy="507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68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CA6BD-D6A2-EC71-3362-CC39E89D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Aktueller Stand Ist-Situation (Wolfgruber)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359975-9568-D449-FE42-66EBFD098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dirty="0"/>
              <a:t>Erfolgreiches Tracking des Balles</a:t>
            </a:r>
          </a:p>
          <a:p>
            <a:pPr lvl="1"/>
            <a:r>
              <a:rPr lang="de-AT" dirty="0"/>
              <a:t>der Ball wird erfolgreich nachverfolgt</a:t>
            </a:r>
          </a:p>
          <a:p>
            <a:r>
              <a:rPr lang="de-AT" dirty="0"/>
              <a:t>Ausgabe eines Overlays von der Soll-Flugbahn</a:t>
            </a:r>
          </a:p>
          <a:p>
            <a:pPr lvl="1"/>
            <a:r>
              <a:rPr lang="de-AT" dirty="0"/>
              <a:t>nach Abschluss des Trackings wird ein Foto erstellt von der Flugbahn</a:t>
            </a:r>
          </a:p>
          <a:p>
            <a:r>
              <a:rPr lang="de-AT" dirty="0"/>
              <a:t>Abgrenzung der Ist-Flugbahn</a:t>
            </a:r>
          </a:p>
          <a:p>
            <a:pPr lvl="1"/>
            <a:r>
              <a:rPr lang="de-AT" dirty="0"/>
              <a:t>das Tracking stoppt wenn ein Korb-Erfolg erzielt wird</a:t>
            </a:r>
          </a:p>
          <a:p>
            <a:r>
              <a:rPr lang="de-AT" dirty="0"/>
              <a:t>Ist &amp; SOLL- Flugbahn auf einem Overlay darstellen</a:t>
            </a:r>
          </a:p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9DC7AB-D834-3A69-664F-6329DF83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Gutmann, Wolfgruber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54D5A7-CD25-8E5B-0574-9A95B18A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13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79877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97E12-5815-A34C-153E-FA520C921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Darstellung IST- &amp; SOLL- Flugbahn (Wolfgruber)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42F45447-3874-BE71-B1CE-ED74E3967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4983" y="1292082"/>
            <a:ext cx="7942034" cy="4500000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543A4F2-BD40-6477-4994-FEC65ADC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Gutmann, Wolfgruber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931F955-B7E5-2B9F-B6F5-B40AE6A53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89552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F599B5-9814-EB2C-07E8-F3A65C69D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Demo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355D1A-049E-3D0B-E7A5-675F3088E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/>
              <a:t>Backend mit </a:t>
            </a:r>
            <a:r>
              <a:rPr lang="de-AT" dirty="0"/>
              <a:t>Frontend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150323A-FE4E-BADB-2B7E-0AF326127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Gutmann, Wolfgruber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9618F62-80C9-5DC6-68AD-2F585704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11460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03BF53-54DB-B4A7-C0F4-8A3070B36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Meilensteine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8BDAFA80-1EBB-A598-C4C6-9958A63AC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1911" y="1528899"/>
            <a:ext cx="11156327" cy="3960000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225954-7508-1E8B-7FC8-363F29341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Gutmann, Wolfgruber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DBBADD-EAEF-CB76-0C6D-B51A74268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16</a:t>
            </a:fld>
            <a:endParaRPr lang="de-AT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B92B675-1782-7AF6-DEE9-D0350B744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618" y="1906733"/>
            <a:ext cx="323849" cy="32384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BEC440A4-2402-DCAC-57AB-8C1F53243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542" y="2230582"/>
            <a:ext cx="323849" cy="32384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6D7C20D-2250-7160-DE23-E03C9B535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369" y="2879515"/>
            <a:ext cx="323116" cy="32311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D561A65-C15E-B4B3-447F-79AF3EE926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7573" y="5164900"/>
            <a:ext cx="324000" cy="29755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F352A659-C155-CC7E-C08F-CBC99A2C74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5935" y="4790828"/>
            <a:ext cx="324000" cy="29755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58AD41C6-6CA1-48C3-217E-A9F1E41EA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8955" y="4493277"/>
            <a:ext cx="324000" cy="297551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7486084B-7C99-7BD7-7380-F971A6E3E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4032" y="3525700"/>
            <a:ext cx="323116" cy="32311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148295A-E9FE-4478-BA38-C43BE285F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957" y="2563326"/>
            <a:ext cx="323116" cy="32311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CB6C836-D124-832F-52D5-1BE025E88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341" y="3220419"/>
            <a:ext cx="323116" cy="32311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D57705D-D7D0-6233-8786-970CDE16A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836" y="4169428"/>
            <a:ext cx="323849" cy="32384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F78FB42F-AA5E-708D-1454-420033D22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0641" y="3846312"/>
            <a:ext cx="323116" cy="32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610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217FD3-5EF0-25D6-0B91-5A23B4D60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Nachhaltigkeit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9A5663-C8E1-21E8-C240-A5D0457CA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b="1" dirty="0"/>
              <a:t>SDG 3: Gesundheit und Wohlergehen</a:t>
            </a:r>
          </a:p>
          <a:p>
            <a:pPr lvl="1"/>
            <a:r>
              <a:rPr lang="de-AT" dirty="0"/>
              <a:t>durch das System werden Basketballspieler*innen unterstützt, ihre Wurftechnik zu verbessern und motiviert, regelmäßig Sport zu betreiben.</a:t>
            </a:r>
            <a:endParaRPr lang="de-AT" b="1" dirty="0"/>
          </a:p>
          <a:p>
            <a:r>
              <a:rPr lang="de-AT" b="1" dirty="0"/>
              <a:t>SDG 4: Hochwertige Bildung</a:t>
            </a:r>
          </a:p>
          <a:p>
            <a:pPr lvl="1"/>
            <a:r>
              <a:rPr lang="de-AT" dirty="0"/>
              <a:t>verbindet Sport mit digitaler Kompetenz</a:t>
            </a:r>
          </a:p>
          <a:p>
            <a:r>
              <a:rPr lang="de-AT" b="1" dirty="0"/>
              <a:t>SDG 9: Industrie, Innovation und Infrastruktur</a:t>
            </a:r>
          </a:p>
          <a:p>
            <a:pPr lvl="1"/>
            <a:r>
              <a:rPr lang="de-AT" dirty="0"/>
              <a:t>innovatives, technisches System für den Sportbereich</a:t>
            </a:r>
          </a:p>
          <a:p>
            <a:pPr lvl="1"/>
            <a:endParaRPr lang="de-AT" b="1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EF81CB4-D6C6-9A35-830F-D4D71B8E1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Gutmann; Wolfgruber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6912F2-E99D-8D49-46AF-60F885091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53078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32AFF4-9A10-785D-C2C2-854D0B99B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Kosten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2729B0-2066-13EC-68D7-C55E782AD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b="1" dirty="0"/>
              <a:t>Kosten</a:t>
            </a:r>
          </a:p>
          <a:p>
            <a:pPr lvl="1"/>
            <a:r>
              <a:rPr lang="de-AT" dirty="0"/>
              <a:t>Arbeiten</a:t>
            </a:r>
          </a:p>
          <a:p>
            <a:pPr lvl="2"/>
            <a:r>
              <a:rPr lang="de-AT" dirty="0"/>
              <a:t>Keine Kosten</a:t>
            </a:r>
          </a:p>
          <a:p>
            <a:pPr lvl="2"/>
            <a:r>
              <a:rPr lang="de-AT" dirty="0"/>
              <a:t>Hauptsächlich eigene Laptops</a:t>
            </a:r>
          </a:p>
          <a:p>
            <a:pPr lvl="1"/>
            <a:r>
              <a:rPr lang="de-AT" dirty="0"/>
              <a:t>Abschlusskosten</a:t>
            </a:r>
          </a:p>
          <a:p>
            <a:pPr lvl="2"/>
            <a:r>
              <a:rPr lang="de-AT" dirty="0"/>
              <a:t>Binden der Diplomarbeit ca. 100 Euro</a:t>
            </a:r>
          </a:p>
          <a:p>
            <a:pPr lvl="2"/>
            <a:r>
              <a:rPr lang="de-AT" dirty="0"/>
              <a:t>Personalkosten 3240€</a:t>
            </a:r>
            <a:r>
              <a:rPr lang="de-AT" b="1" dirty="0"/>
              <a:t> </a:t>
            </a:r>
            <a:r>
              <a:rPr lang="de-AT" dirty="0"/>
              <a:t>Brutto pro Person (18€ Brutto pro Stunde)</a:t>
            </a:r>
          </a:p>
          <a:p>
            <a:pPr lvl="2"/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0C41BA7-54B2-1F66-1B3C-DA61D9C37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Gutmann, Wolfgruber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9B04F1-1E56-A75D-45AE-46BD6984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16375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50CE54-219E-4365-9C34-CC2720436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Literatur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9715C0-AB1C-C0D5-E4F4-050AD0719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>
                <a:hlinkClick r:id="rId2"/>
              </a:rPr>
              <a:t>https://www.geeksforgeeks.org/blogs/mysql-vs-h2</a:t>
            </a:r>
            <a:endParaRPr lang="de-AT" dirty="0"/>
          </a:p>
          <a:p>
            <a:r>
              <a:rPr lang="de-AT" dirty="0">
                <a:hlinkClick r:id="rId3"/>
              </a:rPr>
              <a:t>https://www.python.org</a:t>
            </a:r>
            <a:endParaRPr lang="de-AT" dirty="0"/>
          </a:p>
          <a:p>
            <a:r>
              <a:rPr lang="de-AT" dirty="0">
                <a:hlinkClick r:id="rId4"/>
              </a:rPr>
              <a:t>https://www.chartjs.org/docs/latest/getting-started/usage.html</a:t>
            </a:r>
            <a:endParaRPr lang="de-AT" dirty="0"/>
          </a:p>
          <a:p>
            <a:r>
              <a:rPr lang="de-AT" dirty="0">
                <a:hlinkClick r:id="rId5" tooltip="https://www.oebv.at/internal/36d83adf-0653-4bac-a30e-fd45b2789c38"/>
              </a:rPr>
              <a:t>https://www.oebv.at/internal/36d83adf-0653-4bac-a30e-fd45b2789c38</a:t>
            </a:r>
            <a:endParaRPr lang="de-AT" dirty="0"/>
          </a:p>
          <a:p>
            <a:r>
              <a:rPr lang="de-AT" dirty="0">
                <a:hlinkClick r:id="rId6" tooltip="https://unipub.uni-graz.at/obvugrhs/content/titleinfo/1390304/full.pdf"/>
              </a:rPr>
              <a:t>https://unipub.uni-graz.at/obvugrhs/content/titleinfo/1390304/full.pdf</a:t>
            </a:r>
            <a:endParaRPr lang="de-AT" dirty="0"/>
          </a:p>
          <a:p>
            <a:r>
              <a:rPr lang="de-AT" dirty="0">
                <a:hlinkClick r:id="rId7"/>
              </a:rPr>
              <a:t>https://pyimagesearch.com/2015/09/14/ball-tracking-with-opencv/</a:t>
            </a:r>
            <a:endParaRPr lang="de-AT" dirty="0"/>
          </a:p>
          <a:p>
            <a:r>
              <a:rPr lang="de-AT" dirty="0">
                <a:hlinkClick r:id="rId8"/>
              </a:rPr>
              <a:t>https://ceur-ws.org/Vol-3885/paper26.pdf</a:t>
            </a:r>
            <a:endParaRPr lang="de-AT" dirty="0"/>
          </a:p>
          <a:p>
            <a:r>
              <a:rPr lang="de-AT" dirty="0">
                <a:hlinkClick r:id="rId9"/>
              </a:rPr>
              <a:t>https://www.python-forum.de/viewtopic.php?t=45474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BAD01A-7599-61B8-169B-7C4C3CDA1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b="0" dirty="0"/>
              <a:t>Diplomarbeit: Bacher, </a:t>
            </a:r>
            <a:r>
              <a:rPr lang="de-AT" b="0" dirty="0" err="1"/>
              <a:t>Dalipovic</a:t>
            </a:r>
            <a:r>
              <a:rPr lang="de-AT" b="0" dirty="0"/>
              <a:t>, Gutmann, Wolfgruber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30D1D0-C027-F57B-207E-B0D79EC9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67151883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69C831EFDB1754684DA7EFDF32FC64F" ma:contentTypeVersion="4" ma:contentTypeDescription="Ein neues Dokument erstellen." ma:contentTypeScope="" ma:versionID="3703e690d05f89448da3192c96099864">
  <xsd:schema xmlns:xsd="http://www.w3.org/2001/XMLSchema" xmlns:xs="http://www.w3.org/2001/XMLSchema" xmlns:p="http://schemas.microsoft.com/office/2006/metadata/properties" xmlns:ns2="3eca9db8-53b9-46af-95dc-6df1610d317c" targetNamespace="http://schemas.microsoft.com/office/2006/metadata/properties" ma:root="true" ma:fieldsID="19650f53e42165855795a4db10efdd75" ns2:_="">
    <xsd:import namespace="3eca9db8-53b9-46af-95dc-6df1610d31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ca9db8-53b9-46af-95dc-6df1610d31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2B322D-2084-418A-8960-B074ADC5B6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B09AE3-FA1D-40C8-A6CE-A2D9F55131C8}">
  <ds:schemaRefs>
    <ds:schemaRef ds:uri="http://purl.org/dc/dcmitype/"/>
    <ds:schemaRef ds:uri="http://purl.org/dc/terms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3eca9db8-53b9-46af-95dc-6df1610d317c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39FA121-537E-4197-863A-E07E63D508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ca9db8-53b9-46af-95dc-6df1610d31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865</Words>
  <Application>Microsoft Office PowerPoint</Application>
  <PresentationFormat>Breitbild</PresentationFormat>
  <Paragraphs>175</Paragraphs>
  <Slides>19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Adobe Gothic Std B</vt:lpstr>
      <vt:lpstr>Arial</vt:lpstr>
      <vt:lpstr>Calibri</vt:lpstr>
      <vt:lpstr>Larissa</vt:lpstr>
      <vt:lpstr>PowerPoint-Präsentation</vt:lpstr>
      <vt:lpstr>Partner/Aufgabenstellung</vt:lpstr>
      <vt:lpstr>Übersicht</vt:lpstr>
      <vt:lpstr>Aktueller Stand Frontend (Dalipovic)</vt:lpstr>
      <vt:lpstr>Was wollten wir im Frontend Umsetzen? (Dalipovic)</vt:lpstr>
      <vt:lpstr>Wie haben wir das Frontend umgesetzt? (Dalipovic)</vt:lpstr>
      <vt:lpstr>Aktueller Stand Backend (Gutmann)</vt:lpstr>
      <vt:lpstr>Projektstruktur</vt:lpstr>
      <vt:lpstr>Umsetzungsplan (Bacher)</vt:lpstr>
      <vt:lpstr>Aktueller Stand Soll Situation (Bacher)</vt:lpstr>
      <vt:lpstr>Aktuelles Hauptproblem (Bacher)</vt:lpstr>
      <vt:lpstr>Darstellung Soll Flugbahn (Bacher)</vt:lpstr>
      <vt:lpstr>Aktueller Stand Ist-Situation (Wolfgruber)</vt:lpstr>
      <vt:lpstr>Darstellung IST- &amp; SOLL- Flugbahn (Wolfgruber)</vt:lpstr>
      <vt:lpstr>Demo</vt:lpstr>
      <vt:lpstr>Meilensteine</vt:lpstr>
      <vt:lpstr>Nachhaltigkeit</vt:lpstr>
      <vt:lpstr>Kosten</vt:lpstr>
      <vt:lpstr>Literatur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alexandra</dc:creator>
  <cp:lastModifiedBy>Gutmann Florian</cp:lastModifiedBy>
  <cp:revision>36</cp:revision>
  <cp:lastPrinted>2020-04-02T17:36:48Z</cp:lastPrinted>
  <dcterms:created xsi:type="dcterms:W3CDTF">2012-09-14T17:11:23Z</dcterms:created>
  <dcterms:modified xsi:type="dcterms:W3CDTF">2026-02-25T22:11:07Z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0x010100269C831EFDB1754684DA7EFDF32FC64F</vt:lpwstr>
  </property>
</Properties>
</file>